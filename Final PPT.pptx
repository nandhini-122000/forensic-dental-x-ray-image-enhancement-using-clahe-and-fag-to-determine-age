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62" r:id="rId4"/>
    <p:sldId id="294" r:id="rId5"/>
    <p:sldId id="261" r:id="rId6"/>
    <p:sldId id="263" r:id="rId7"/>
    <p:sldId id="260" r:id="rId8"/>
    <p:sldId id="276" r:id="rId9"/>
    <p:sldId id="278" r:id="rId10"/>
    <p:sldId id="279" r:id="rId11"/>
    <p:sldId id="266" r:id="rId12"/>
    <p:sldId id="282" r:id="rId13"/>
    <p:sldId id="285" r:id="rId14"/>
    <p:sldId id="286" r:id="rId15"/>
    <p:sldId id="287" r:id="rId16"/>
    <p:sldId id="288" r:id="rId17"/>
    <p:sldId id="289" r:id="rId18"/>
    <p:sldId id="258" r:id="rId19"/>
    <p:sldId id="283" r:id="rId20"/>
    <p:sldId id="284" r:id="rId21"/>
    <p:sldId id="290" r:id="rId22"/>
    <p:sldId id="292" r:id="rId23"/>
    <p:sldId id="29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p:scale>
          <a:sx n="61" d="100"/>
          <a:sy n="61"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R kavya" userId="f4b0a0d7617e1b32" providerId="LiveId" clId="{BE171C8C-3E0F-44CA-B43A-30146C5AFA24}"/>
    <pc:docChg chg="undo custSel addSld delSld modSld">
      <pc:chgData name="VR kavya" userId="f4b0a0d7617e1b32" providerId="LiveId" clId="{BE171C8C-3E0F-44CA-B43A-30146C5AFA24}" dt="2022-05-23T18:21:01.205" v="1248" actId="1076"/>
      <pc:docMkLst>
        <pc:docMk/>
      </pc:docMkLst>
      <pc:sldChg chg="modSp mod">
        <pc:chgData name="VR kavya" userId="f4b0a0d7617e1b32" providerId="LiveId" clId="{BE171C8C-3E0F-44CA-B43A-30146C5AFA24}" dt="2022-05-23T18:20:48.055" v="1244" actId="14100"/>
        <pc:sldMkLst>
          <pc:docMk/>
          <pc:sldMk cId="3202310521" sldId="258"/>
        </pc:sldMkLst>
        <pc:picChg chg="mod">
          <ac:chgData name="VR kavya" userId="f4b0a0d7617e1b32" providerId="LiveId" clId="{BE171C8C-3E0F-44CA-B43A-30146C5AFA24}" dt="2022-05-23T18:20:48.055" v="1244" actId="14100"/>
          <ac:picMkLst>
            <pc:docMk/>
            <pc:sldMk cId="3202310521" sldId="258"/>
            <ac:picMk id="4" creationId="{E75D0F6D-8407-AB4C-7F21-ACB89807DF5B}"/>
          </ac:picMkLst>
        </pc:picChg>
      </pc:sldChg>
      <pc:sldChg chg="modSp mod">
        <pc:chgData name="VR kavya" userId="f4b0a0d7617e1b32" providerId="LiveId" clId="{BE171C8C-3E0F-44CA-B43A-30146C5AFA24}" dt="2022-05-23T18:16:25.591" v="1183" actId="5793"/>
        <pc:sldMkLst>
          <pc:docMk/>
          <pc:sldMk cId="212622727" sldId="261"/>
        </pc:sldMkLst>
        <pc:spChg chg="mod">
          <ac:chgData name="VR kavya" userId="f4b0a0d7617e1b32" providerId="LiveId" clId="{BE171C8C-3E0F-44CA-B43A-30146C5AFA24}" dt="2022-05-23T18:16:25.591" v="1183" actId="5793"/>
          <ac:spMkLst>
            <pc:docMk/>
            <pc:sldMk cId="212622727" sldId="261"/>
            <ac:spMk id="6" creationId="{FF2A038A-ECEF-53A6-4F0D-D367BEFCD18E}"/>
          </ac:spMkLst>
        </pc:spChg>
      </pc:sldChg>
      <pc:sldChg chg="modSp mod">
        <pc:chgData name="VR kavya" userId="f4b0a0d7617e1b32" providerId="LiveId" clId="{BE171C8C-3E0F-44CA-B43A-30146C5AFA24}" dt="2022-05-23T16:46:02.337" v="5" actId="113"/>
        <pc:sldMkLst>
          <pc:docMk/>
          <pc:sldMk cId="3210364981" sldId="263"/>
        </pc:sldMkLst>
        <pc:spChg chg="mod">
          <ac:chgData name="VR kavya" userId="f4b0a0d7617e1b32" providerId="LiveId" clId="{BE171C8C-3E0F-44CA-B43A-30146C5AFA24}" dt="2022-05-23T16:46:02.337" v="5" actId="113"/>
          <ac:spMkLst>
            <pc:docMk/>
            <pc:sldMk cId="3210364981" sldId="263"/>
            <ac:spMk id="5" creationId="{7FAF2A0C-D520-56BE-11CB-0E8439EB64B7}"/>
          </ac:spMkLst>
        </pc:spChg>
        <pc:picChg chg="mod">
          <ac:chgData name="VR kavya" userId="f4b0a0d7617e1b32" providerId="LiveId" clId="{BE171C8C-3E0F-44CA-B43A-30146C5AFA24}" dt="2022-05-23T16:45:48.904" v="4" actId="14100"/>
          <ac:picMkLst>
            <pc:docMk/>
            <pc:sldMk cId="3210364981" sldId="263"/>
            <ac:picMk id="6" creationId="{7F6ABE1F-F052-7CAB-D1F5-33E628E09644}"/>
          </ac:picMkLst>
        </pc:picChg>
      </pc:sldChg>
      <pc:sldChg chg="modSp mod">
        <pc:chgData name="VR kavya" userId="f4b0a0d7617e1b32" providerId="LiveId" clId="{BE171C8C-3E0F-44CA-B43A-30146C5AFA24}" dt="2022-05-23T18:20:55.165" v="1246" actId="14100"/>
        <pc:sldMkLst>
          <pc:docMk/>
          <pc:sldMk cId="2817616305" sldId="283"/>
        </pc:sldMkLst>
        <pc:picChg chg="mod">
          <ac:chgData name="VR kavya" userId="f4b0a0d7617e1b32" providerId="LiveId" clId="{BE171C8C-3E0F-44CA-B43A-30146C5AFA24}" dt="2022-05-23T18:20:55.165" v="1246" actId="14100"/>
          <ac:picMkLst>
            <pc:docMk/>
            <pc:sldMk cId="2817616305" sldId="283"/>
            <ac:picMk id="4" creationId="{4E9CA201-D846-B1D7-638D-C255989B60AB}"/>
          </ac:picMkLst>
        </pc:picChg>
      </pc:sldChg>
      <pc:sldChg chg="modSp mod">
        <pc:chgData name="VR kavya" userId="f4b0a0d7617e1b32" providerId="LiveId" clId="{BE171C8C-3E0F-44CA-B43A-30146C5AFA24}" dt="2022-05-23T18:21:01.205" v="1248" actId="1076"/>
        <pc:sldMkLst>
          <pc:docMk/>
          <pc:sldMk cId="3819318993" sldId="284"/>
        </pc:sldMkLst>
        <pc:picChg chg="mod">
          <ac:chgData name="VR kavya" userId="f4b0a0d7617e1b32" providerId="LiveId" clId="{BE171C8C-3E0F-44CA-B43A-30146C5AFA24}" dt="2022-05-23T18:21:01.205" v="1248" actId="1076"/>
          <ac:picMkLst>
            <pc:docMk/>
            <pc:sldMk cId="3819318993" sldId="284"/>
            <ac:picMk id="4" creationId="{FCCE0A39-3925-6392-53DE-719E69A32F27}"/>
          </ac:picMkLst>
        </pc:picChg>
      </pc:sldChg>
      <pc:sldChg chg="modSp mod">
        <pc:chgData name="VR kavya" userId="f4b0a0d7617e1b32" providerId="LiveId" clId="{BE171C8C-3E0F-44CA-B43A-30146C5AFA24}" dt="2022-05-23T18:20:11.435" v="1243" actId="14100"/>
        <pc:sldMkLst>
          <pc:docMk/>
          <pc:sldMk cId="3737829074" sldId="285"/>
        </pc:sldMkLst>
        <pc:spChg chg="mod">
          <ac:chgData name="VR kavya" userId="f4b0a0d7617e1b32" providerId="LiveId" clId="{BE171C8C-3E0F-44CA-B43A-30146C5AFA24}" dt="2022-05-23T18:20:11.435" v="1243" actId="14100"/>
          <ac:spMkLst>
            <pc:docMk/>
            <pc:sldMk cId="3737829074" sldId="285"/>
            <ac:spMk id="3" creationId="{7411A69F-4060-3144-DB91-B57809733A46}"/>
          </ac:spMkLst>
        </pc:spChg>
      </pc:sldChg>
      <pc:sldChg chg="modSp mod">
        <pc:chgData name="VR kavya" userId="f4b0a0d7617e1b32" providerId="LiveId" clId="{BE171C8C-3E0F-44CA-B43A-30146C5AFA24}" dt="2022-05-23T17:12:13.521" v="8" actId="5793"/>
        <pc:sldMkLst>
          <pc:docMk/>
          <pc:sldMk cId="4181999337" sldId="292"/>
        </pc:sldMkLst>
        <pc:spChg chg="mod">
          <ac:chgData name="VR kavya" userId="f4b0a0d7617e1b32" providerId="LiveId" clId="{BE171C8C-3E0F-44CA-B43A-30146C5AFA24}" dt="2022-05-23T17:12:04.176" v="7" actId="27636"/>
          <ac:spMkLst>
            <pc:docMk/>
            <pc:sldMk cId="4181999337" sldId="292"/>
            <ac:spMk id="2" creationId="{40C871CC-4BC8-48F2-A547-DE0334DB75AC}"/>
          </ac:spMkLst>
        </pc:spChg>
        <pc:spChg chg="mod">
          <ac:chgData name="VR kavya" userId="f4b0a0d7617e1b32" providerId="LiveId" clId="{BE171C8C-3E0F-44CA-B43A-30146C5AFA24}" dt="2022-05-23T17:12:13.521" v="8" actId="5793"/>
          <ac:spMkLst>
            <pc:docMk/>
            <pc:sldMk cId="4181999337" sldId="292"/>
            <ac:spMk id="4" creationId="{00000000-0000-0000-0000-000000000000}"/>
          </ac:spMkLst>
        </pc:spChg>
      </pc:sldChg>
      <pc:sldChg chg="addSp delSp modSp mod">
        <pc:chgData name="VR kavya" userId="f4b0a0d7617e1b32" providerId="LiveId" clId="{BE171C8C-3E0F-44CA-B43A-30146C5AFA24}" dt="2022-05-23T18:12:56.875" v="1115" actId="255"/>
        <pc:sldMkLst>
          <pc:docMk/>
          <pc:sldMk cId="4014638498" sldId="294"/>
        </pc:sldMkLst>
        <pc:spChg chg="del">
          <ac:chgData name="VR kavya" userId="f4b0a0d7617e1b32" providerId="LiveId" clId="{BE171C8C-3E0F-44CA-B43A-30146C5AFA24}" dt="2022-05-23T17:15:33.051" v="9" actId="3680"/>
          <ac:spMkLst>
            <pc:docMk/>
            <pc:sldMk cId="4014638498" sldId="294"/>
            <ac:spMk id="3" creationId="{3926D696-C442-D05E-4EE4-C9AC2E719D33}"/>
          </ac:spMkLst>
        </pc:spChg>
        <pc:spChg chg="add del mod">
          <ac:chgData name="VR kavya" userId="f4b0a0d7617e1b32" providerId="LiveId" clId="{BE171C8C-3E0F-44CA-B43A-30146C5AFA24}" dt="2022-05-23T17:19:39.754" v="37" actId="3680"/>
          <ac:spMkLst>
            <pc:docMk/>
            <pc:sldMk cId="4014638498" sldId="294"/>
            <ac:spMk id="7" creationId="{260CD608-261A-A01E-B33B-EA0CA282909E}"/>
          </ac:spMkLst>
        </pc:spChg>
        <pc:spChg chg="add del mod">
          <ac:chgData name="VR kavya" userId="f4b0a0d7617e1b32" providerId="LiveId" clId="{BE171C8C-3E0F-44CA-B43A-30146C5AFA24}" dt="2022-05-23T17:52:22.339" v="692" actId="478"/>
          <ac:spMkLst>
            <pc:docMk/>
            <pc:sldMk cId="4014638498" sldId="294"/>
            <ac:spMk id="10" creationId="{18B19778-07CD-838B-3193-004C1C79E7DC}"/>
          </ac:spMkLst>
        </pc:spChg>
        <pc:spChg chg="add del mod">
          <ac:chgData name="VR kavya" userId="f4b0a0d7617e1b32" providerId="LiveId" clId="{BE171C8C-3E0F-44CA-B43A-30146C5AFA24}" dt="2022-05-23T18:11:22.346" v="1083"/>
          <ac:spMkLst>
            <pc:docMk/>
            <pc:sldMk cId="4014638498" sldId="294"/>
            <ac:spMk id="11" creationId="{67C50E98-D53E-DB85-824D-5A596FC0D783}"/>
          </ac:spMkLst>
        </pc:spChg>
        <pc:spChg chg="add del mod">
          <ac:chgData name="VR kavya" userId="f4b0a0d7617e1b32" providerId="LiveId" clId="{BE171C8C-3E0F-44CA-B43A-30146C5AFA24}" dt="2022-05-23T18:11:39.485" v="1088"/>
          <ac:spMkLst>
            <pc:docMk/>
            <pc:sldMk cId="4014638498" sldId="294"/>
            <ac:spMk id="12" creationId="{DD0B9B15-DC53-9D4D-808F-B0F398208D84}"/>
          </ac:spMkLst>
        </pc:spChg>
        <pc:spChg chg="add del mod">
          <ac:chgData name="VR kavya" userId="f4b0a0d7617e1b32" providerId="LiveId" clId="{BE171C8C-3E0F-44CA-B43A-30146C5AFA24}" dt="2022-05-23T18:11:39.485" v="1090"/>
          <ac:spMkLst>
            <pc:docMk/>
            <pc:sldMk cId="4014638498" sldId="294"/>
            <ac:spMk id="13" creationId="{26F33CC6-4F32-86F5-3764-68410E43F980}"/>
          </ac:spMkLst>
        </pc:spChg>
        <pc:spChg chg="add mod">
          <ac:chgData name="VR kavya" userId="f4b0a0d7617e1b32" providerId="LiveId" clId="{BE171C8C-3E0F-44CA-B43A-30146C5AFA24}" dt="2022-05-23T18:12:56.875" v="1115" actId="255"/>
          <ac:spMkLst>
            <pc:docMk/>
            <pc:sldMk cId="4014638498" sldId="294"/>
            <ac:spMk id="14" creationId="{97329736-2126-6EA9-B996-0353F4C9B9C5}"/>
          </ac:spMkLst>
        </pc:spChg>
        <pc:graphicFrameChg chg="add del mod ord modGraphic">
          <ac:chgData name="VR kavya" userId="f4b0a0d7617e1b32" providerId="LiveId" clId="{BE171C8C-3E0F-44CA-B43A-30146C5AFA24}" dt="2022-05-23T17:19:28.616" v="35" actId="478"/>
          <ac:graphicFrameMkLst>
            <pc:docMk/>
            <pc:sldMk cId="4014638498" sldId="294"/>
            <ac:graphicFrameMk id="2" creationId="{3411128A-D37F-D455-672C-ECE4919749D9}"/>
          </ac:graphicFrameMkLst>
        </pc:graphicFrameChg>
        <pc:graphicFrameChg chg="add del mod modGraphic">
          <ac:chgData name="VR kavya" userId="f4b0a0d7617e1b32" providerId="LiveId" clId="{BE171C8C-3E0F-44CA-B43A-30146C5AFA24}" dt="2022-05-23T17:19:21.497" v="33" actId="478"/>
          <ac:graphicFrameMkLst>
            <pc:docMk/>
            <pc:sldMk cId="4014638498" sldId="294"/>
            <ac:graphicFrameMk id="4" creationId="{2265BB1F-D297-CE74-EF7A-7F38726388DD}"/>
          </ac:graphicFrameMkLst>
        </pc:graphicFrameChg>
        <pc:graphicFrameChg chg="add del modGraphic">
          <ac:chgData name="VR kavya" userId="f4b0a0d7617e1b32" providerId="LiveId" clId="{BE171C8C-3E0F-44CA-B43A-30146C5AFA24}" dt="2022-05-23T17:16:58.108" v="19" actId="478"/>
          <ac:graphicFrameMkLst>
            <pc:docMk/>
            <pc:sldMk cId="4014638498" sldId="294"/>
            <ac:graphicFrameMk id="5" creationId="{E27D9CB9-CAA9-4F1D-328E-B3E741EEF4E2}"/>
          </ac:graphicFrameMkLst>
        </pc:graphicFrameChg>
        <pc:graphicFrameChg chg="add del mod ord modGraphic">
          <ac:chgData name="VR kavya" userId="f4b0a0d7617e1b32" providerId="LiveId" clId="{BE171C8C-3E0F-44CA-B43A-30146C5AFA24}" dt="2022-05-23T18:08:42.675" v="1075" actId="14100"/>
          <ac:graphicFrameMkLst>
            <pc:docMk/>
            <pc:sldMk cId="4014638498" sldId="294"/>
            <ac:graphicFrameMk id="8" creationId="{B0DFCB32-6A29-492F-F4C3-9EE0A04D5A36}"/>
          </ac:graphicFrameMkLst>
        </pc:graphicFrameChg>
      </pc:sldChg>
      <pc:sldChg chg="del">
        <pc:chgData name="VR kavya" userId="f4b0a0d7617e1b32" providerId="LiveId" clId="{BE171C8C-3E0F-44CA-B43A-30146C5AFA24}" dt="2022-05-23T18:09:50.941" v="1078" actId="2696"/>
        <pc:sldMkLst>
          <pc:docMk/>
          <pc:sldMk cId="3869284437" sldId="295"/>
        </pc:sldMkLst>
      </pc:sldChg>
      <pc:sldChg chg="new del">
        <pc:chgData name="VR kavya" userId="f4b0a0d7617e1b32" providerId="LiveId" clId="{BE171C8C-3E0F-44CA-B43A-30146C5AFA24}" dt="2022-05-23T18:09:47.351" v="1077" actId="2696"/>
        <pc:sldMkLst>
          <pc:docMk/>
          <pc:sldMk cId="4077309572"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57C179-8B79-49B5-9D17-71465755AF36}" type="datetimeFigureOut">
              <a:rPr lang="en-IN" smtClean="0"/>
              <a:t>24-05-2022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14923-0625-48EB-9C76-871CDA5FD829}" type="slidenum">
              <a:rPr lang="en-IN" smtClean="0"/>
              <a:t>‹#›</a:t>
            </a:fld>
            <a:endParaRPr lang="en-IN"/>
          </a:p>
        </p:txBody>
      </p:sp>
    </p:spTree>
    <p:extLst>
      <p:ext uri="{BB962C8B-B14F-4D97-AF65-F5344CB8AC3E}">
        <p14:creationId xmlns:p14="http://schemas.microsoft.com/office/powerpoint/2010/main" val="77318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2EC5-4839-3ACE-21ED-0649DD4FD4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602184-C870-7E6E-3172-50A31BA2EF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4BFDA5-275D-7F4A-2352-DF7F8F26F4D1}"/>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5" name="Footer Placeholder 4">
            <a:extLst>
              <a:ext uri="{FF2B5EF4-FFF2-40B4-BE49-F238E27FC236}">
                <a16:creationId xmlns:a16="http://schemas.microsoft.com/office/drawing/2014/main" id="{33E81F8A-290E-EB7C-257B-AE4A276F5D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D55874-E163-7251-430C-C8BFF94566D5}"/>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1336832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C0706-5520-CBB6-447B-56B36188C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A58E55-97EA-C9C7-C609-E0CD2F3F3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96A962-F330-79C5-B586-E26203E695A9}"/>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5" name="Footer Placeholder 4">
            <a:extLst>
              <a:ext uri="{FF2B5EF4-FFF2-40B4-BE49-F238E27FC236}">
                <a16:creationId xmlns:a16="http://schemas.microsoft.com/office/drawing/2014/main" id="{AF62DAB0-4501-43F6-CC05-9502BB0678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D76040-C307-EDE2-12B9-ED3F3001B04D}"/>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2732436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9D652-6FA3-DAA5-FBDA-A5A25A563D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CAD016-1706-F83E-0B1E-EF215B542B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568C1D-E32D-F2B9-981D-6CC54FD8C568}"/>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5" name="Footer Placeholder 4">
            <a:extLst>
              <a:ext uri="{FF2B5EF4-FFF2-40B4-BE49-F238E27FC236}">
                <a16:creationId xmlns:a16="http://schemas.microsoft.com/office/drawing/2014/main" id="{C91E1F1E-389B-DF5E-A474-812EEC0BBC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563CA6-A100-B799-03B0-F69FB755CA02}"/>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540207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01FB2-8955-220E-A2E7-A224456888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5E78C5-8213-F8BD-9705-5F053DB856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BC9D95-0E10-BECC-5751-7F44B86689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14E059-4681-078B-03DD-40430B8354AA}"/>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6" name="Footer Placeholder 5">
            <a:extLst>
              <a:ext uri="{FF2B5EF4-FFF2-40B4-BE49-F238E27FC236}">
                <a16:creationId xmlns:a16="http://schemas.microsoft.com/office/drawing/2014/main" id="{1B694A30-75F9-E37E-6823-19C26401FA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FA72B5-A45C-93CE-9F8D-4C3CB79EE30A}"/>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2231180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53FA0-798B-B091-FF4C-3608A65273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871921-125D-8A30-A44F-19AC9D2C48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F82FF9-CBC6-57E9-6716-CBA15E66A2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47AB45-009C-E396-DC03-993A536CB5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07B008-4950-329C-2B9C-B2AEE0879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48A331-9DCF-C1DA-4E1D-06C2C9677CA5}"/>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8" name="Footer Placeholder 7">
            <a:extLst>
              <a:ext uri="{FF2B5EF4-FFF2-40B4-BE49-F238E27FC236}">
                <a16:creationId xmlns:a16="http://schemas.microsoft.com/office/drawing/2014/main" id="{14A7C40D-67EE-2CAD-0960-BD281CEAF9D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25B37A-8C2A-E60C-8CF0-D3BF9B7E4346}"/>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1635060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031F-2468-4AD4-34A7-D4E0A8A8EB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B16085-28CC-93C6-F338-FE15C0DE1BB4}"/>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4" name="Footer Placeholder 3">
            <a:extLst>
              <a:ext uri="{FF2B5EF4-FFF2-40B4-BE49-F238E27FC236}">
                <a16:creationId xmlns:a16="http://schemas.microsoft.com/office/drawing/2014/main" id="{E73DF848-169E-F411-AA4C-4B5B0FC6A0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F04AE6F-703D-C31F-C353-5523C224B38C}"/>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3578381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42DDB6-4C7A-6208-6E7E-5FEF16381B59}"/>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3" name="Footer Placeholder 2">
            <a:extLst>
              <a:ext uri="{FF2B5EF4-FFF2-40B4-BE49-F238E27FC236}">
                <a16:creationId xmlns:a16="http://schemas.microsoft.com/office/drawing/2014/main" id="{9779450C-5C27-DC19-4432-79A477BF506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2426CC2-A609-BF46-5B66-EEA4B37B1A05}"/>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180210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FE4B6-D370-E1A9-F83E-F1E01CD296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93C73D-A779-CF2E-74D3-0E9A1EEE52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21964C-7148-0A06-E885-05A298A7DB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42F24D-0F70-071B-1D61-DC2EFFE371B5}"/>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6" name="Footer Placeholder 5">
            <a:extLst>
              <a:ext uri="{FF2B5EF4-FFF2-40B4-BE49-F238E27FC236}">
                <a16:creationId xmlns:a16="http://schemas.microsoft.com/office/drawing/2014/main" id="{77D7A06C-9D63-515F-1379-3A879D0937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AF55F7-4F34-860E-FA8E-2C92A7585B8D}"/>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69581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D95C1-A205-19A5-65BB-41D43E66D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A3DB1D-4E8D-F3ED-FEEB-95AE0EA3DC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D2D30D-2A22-0875-9056-2FFEE8676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D14375-A0D4-4F08-2ADC-8D666F01140A}"/>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6" name="Footer Placeholder 5">
            <a:extLst>
              <a:ext uri="{FF2B5EF4-FFF2-40B4-BE49-F238E27FC236}">
                <a16:creationId xmlns:a16="http://schemas.microsoft.com/office/drawing/2014/main" id="{A4D2B515-4C3B-CC5B-3F4B-65BCA71BF3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A4850B-92E5-28EB-78F7-F4756DC2F981}"/>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1841544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DC98B-E38F-BB53-06F2-7C95D32452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F550BFA-4235-AC86-1803-F73FE4A398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00AE9C-1F20-B137-FC39-8D40436F64CA}"/>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5" name="Footer Placeholder 4">
            <a:extLst>
              <a:ext uri="{FF2B5EF4-FFF2-40B4-BE49-F238E27FC236}">
                <a16:creationId xmlns:a16="http://schemas.microsoft.com/office/drawing/2014/main" id="{A6CE506C-560D-8EBC-5A1E-F359BA1BD3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599B02-B8A3-AF78-38D9-E8FF11D282BD}"/>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4006740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E9C379-29BB-BF8A-1F65-E15E6A9616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56E447-9DB0-41F9-BE0C-4CF617379B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FCDD84-400F-16C5-11D6-3376E6B9D89A}"/>
              </a:ext>
            </a:extLst>
          </p:cNvPr>
          <p:cNvSpPr>
            <a:spLocks noGrp="1"/>
          </p:cNvSpPr>
          <p:nvPr>
            <p:ph type="dt" sz="half" idx="10"/>
          </p:nvPr>
        </p:nvSpPr>
        <p:spPr/>
        <p:txBody>
          <a:bodyPr/>
          <a:lstStyle/>
          <a:p>
            <a:fld id="{9FBBFA19-21E3-4160-8B77-C7ED22F671AC}" type="datetimeFigureOut">
              <a:rPr lang="en-IN" smtClean="0"/>
              <a:t>24-05-2022</a:t>
            </a:fld>
            <a:endParaRPr lang="en-IN"/>
          </a:p>
        </p:txBody>
      </p:sp>
      <p:sp>
        <p:nvSpPr>
          <p:cNvPr id="5" name="Footer Placeholder 4">
            <a:extLst>
              <a:ext uri="{FF2B5EF4-FFF2-40B4-BE49-F238E27FC236}">
                <a16:creationId xmlns:a16="http://schemas.microsoft.com/office/drawing/2014/main" id="{4EFBAE3E-7FFE-17B7-BC28-E2575A0B5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45196C-6BA9-9436-890A-C1443545B529}"/>
              </a:ext>
            </a:extLst>
          </p:cNvPr>
          <p:cNvSpPr>
            <a:spLocks noGrp="1"/>
          </p:cNvSpPr>
          <p:nvPr>
            <p:ph type="sldNum" sz="quarter" idx="12"/>
          </p:nvPr>
        </p:nvSpPr>
        <p:spPr/>
        <p:txBody>
          <a:bodyPr/>
          <a:lstStyle/>
          <a:p>
            <a:fld id="{E8997C06-35F8-47A5-A9EB-36B199ED4800}" type="slidenum">
              <a:rPr lang="en-IN" smtClean="0"/>
              <a:t>‹#›</a:t>
            </a:fld>
            <a:endParaRPr lang="en-IN"/>
          </a:p>
        </p:txBody>
      </p:sp>
    </p:spTree>
    <p:extLst>
      <p:ext uri="{BB962C8B-B14F-4D97-AF65-F5344CB8AC3E}">
        <p14:creationId xmlns:p14="http://schemas.microsoft.com/office/powerpoint/2010/main" val="1480400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9077AF-B9D9-4A26-6D73-8EE0373CFB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02140D-5ACD-EF5A-B86D-E404BA0527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F2D742-C722-4D2E-9428-DD40676FFD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BFA19-21E3-4160-8B77-C7ED22F671AC}" type="datetimeFigureOut">
              <a:rPr lang="en-IN" smtClean="0"/>
              <a:t>24-05-2022</a:t>
            </a:fld>
            <a:endParaRPr lang="en-IN"/>
          </a:p>
        </p:txBody>
      </p:sp>
      <p:sp>
        <p:nvSpPr>
          <p:cNvPr id="5" name="Footer Placeholder 4">
            <a:extLst>
              <a:ext uri="{FF2B5EF4-FFF2-40B4-BE49-F238E27FC236}">
                <a16:creationId xmlns:a16="http://schemas.microsoft.com/office/drawing/2014/main" id="{AA141B46-56DD-D71A-F97D-12D879FB34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54DBC9-D78C-B000-7120-7F9FED59B3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997C06-35F8-47A5-A9EB-36B199ED4800}" type="slidenum">
              <a:rPr lang="en-IN" smtClean="0"/>
              <a:t>‹#›</a:t>
            </a:fld>
            <a:endParaRPr lang="en-IN"/>
          </a:p>
        </p:txBody>
      </p:sp>
    </p:spTree>
    <p:extLst>
      <p:ext uri="{BB962C8B-B14F-4D97-AF65-F5344CB8AC3E}">
        <p14:creationId xmlns:p14="http://schemas.microsoft.com/office/powerpoint/2010/main" val="846974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2D87B7C-5663-047D-4C66-E221C0DC2FDF}"/>
              </a:ext>
            </a:extLst>
          </p:cNvPr>
          <p:cNvSpPr txBox="1"/>
          <p:nvPr/>
        </p:nvSpPr>
        <p:spPr>
          <a:xfrm>
            <a:off x="1100138" y="647421"/>
            <a:ext cx="9666474" cy="6524863"/>
          </a:xfrm>
          <a:prstGeom prst="rect">
            <a:avLst/>
          </a:prstGeom>
          <a:noFill/>
        </p:spPr>
        <p:txBody>
          <a:bodyPr wrap="square">
            <a:spAutoFit/>
          </a:bodyPr>
          <a:lstStyle/>
          <a:p>
            <a:pPr algn="ctr"/>
            <a:r>
              <a:rPr lang="en-US" sz="4000" b="1" u="sng" dirty="0">
                <a:latin typeface="Times New Roman" pitchFamily="18" charset="0"/>
                <a:cs typeface="Times New Roman" pitchFamily="18" charset="0"/>
              </a:rPr>
              <a:t>FORENSIC DENTAL X-RAY IMAGE ENHANCEMENT USING CLAHE AND FAG TO DETERMINE AGE AND GENDER</a:t>
            </a:r>
            <a:br>
              <a:rPr lang="en-US" sz="4000" b="1" dirty="0">
                <a:latin typeface="Times New Roman" pitchFamily="18" charset="0"/>
                <a:cs typeface="Times New Roman" pitchFamily="18" charset="0"/>
              </a:rPr>
            </a:b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DOMAIN: DEEP LEARNING</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GUIDE: MRS P DEEPA</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MEMBERS: KAVYA VR</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                                   DAHLIA RANE P</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                            NANDHINI S</a:t>
            </a:r>
            <a:br>
              <a:rPr lang="en-US" sz="1800" b="1" dirty="0">
                <a:latin typeface="Times New Roman" pitchFamily="18" charset="0"/>
                <a:cs typeface="Times New Roman" pitchFamily="18" charset="0"/>
              </a:rPr>
            </a:br>
            <a:endParaRPr lang="en-IN" dirty="0"/>
          </a:p>
        </p:txBody>
      </p:sp>
    </p:spTree>
    <p:extLst>
      <p:ext uri="{BB962C8B-B14F-4D97-AF65-F5344CB8AC3E}">
        <p14:creationId xmlns:p14="http://schemas.microsoft.com/office/powerpoint/2010/main" val="44564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5ACF-9992-A1DE-8F59-CC6AD36B2A03}"/>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5FE220D-7E75-6913-08E4-EA71DA12E4A9}"/>
              </a:ext>
            </a:extLst>
          </p:cNvPr>
          <p:cNvSpPr>
            <a:spLocks noGrp="1"/>
          </p:cNvSpPr>
          <p:nvPr>
            <p:ph idx="1"/>
          </p:nvPr>
        </p:nvSpPr>
        <p:spPr>
          <a:xfrm>
            <a:off x="838200" y="1292772"/>
            <a:ext cx="10975428" cy="5286704"/>
          </a:xfrm>
        </p:spPr>
        <p:txBody>
          <a:bodyPr>
            <a:normAutofit lnSpcReduction="10000"/>
          </a:bodyPr>
          <a:lstStyle/>
          <a:p>
            <a:r>
              <a:rPr lang="en-IN" sz="2400" dirty="0">
                <a:latin typeface="Calibri" panose="020F0502020204030204" pitchFamily="34" charset="0"/>
                <a:ea typeface="Calibri" panose="020F0502020204030204" pitchFamily="34" charset="0"/>
                <a:cs typeface="Times New Roman" panose="02020603050405020304" pitchFamily="18" charset="0"/>
              </a:rPr>
              <a:t>This project </a:t>
            </a:r>
            <a:r>
              <a:rPr lang="en-IN" sz="2400" dirty="0">
                <a:effectLst/>
                <a:latin typeface="Calibri" panose="020F0502020204030204" pitchFamily="34" charset="0"/>
                <a:ea typeface="Calibri" panose="020F0502020204030204" pitchFamily="34" charset="0"/>
                <a:cs typeface="Times New Roman" panose="02020603050405020304" pitchFamily="18" charset="0"/>
              </a:rPr>
              <a:t>presents an improved dental x-ray enhancement technique based on weighted average fusion of contrast limited adaptive histogram equalisation (CLAHE) and fuzzy adaptive gamma (FAG). The proposed technique is applied in three stages. Firstly, grey level intensities with CLAHE are locally applied to image pixels for contrast enhancement. Secondly, the grey level intensities are then globally transformed into membership planes and modified with the FAG operator for the same purposes. Finally, the resultant images from CLAHE and FAG are fused using improved weighted averaging methods for clearer images. Then, a matched filter with first-order derivative Gaussian (MF-FODG) is employed to segment patterns. The proposed technique was tested on self-acquired dorsal hand vein images as well as images from the database. The performance of the proposed technique is compared with various other image enhancement techniques based on mean square error (MSE), peak signal-to-noise ratio (PSNR), and structural similarity index measurement (SSIM). The proposed enhancement technique’s impact on the segmentation process has also been evaluated using sensitivity, accuracy, and dice coefficient. The experimental results show that the proposed enhancement technique can significantly improve the detection of any abnormality</a:t>
            </a:r>
            <a:endParaRPr lang="en-IN" sz="2400" dirty="0"/>
          </a:p>
        </p:txBody>
      </p:sp>
    </p:spTree>
    <p:extLst>
      <p:ext uri="{BB962C8B-B14F-4D97-AF65-F5344CB8AC3E}">
        <p14:creationId xmlns:p14="http://schemas.microsoft.com/office/powerpoint/2010/main" val="881783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A5BD02-CB59-5DD8-F590-4EAFF8C8B944}"/>
              </a:ext>
            </a:extLst>
          </p:cNvPr>
          <p:cNvSpPr>
            <a:spLocks noGrp="1"/>
          </p:cNvSpPr>
          <p:nvPr>
            <p:ph type="title"/>
          </p:nvPr>
        </p:nvSpPr>
        <p:spPr>
          <a:xfrm>
            <a:off x="-1725107" y="365125"/>
            <a:ext cx="11180191"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PROBLEM DEFINITION</a:t>
            </a:r>
            <a:endParaRPr lang="en-IN" sz="4000"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B9B2D63F-EE91-2A4A-6A21-5BFCEF1FA7F7}"/>
              </a:ext>
            </a:extLst>
          </p:cNvPr>
          <p:cNvSpPr>
            <a:spLocks noGrp="1"/>
          </p:cNvSpPr>
          <p:nvPr>
            <p:ph idx="1"/>
          </p:nvPr>
        </p:nvSpPr>
        <p:spPr>
          <a:xfrm>
            <a:off x="838200" y="1597572"/>
            <a:ext cx="10515600" cy="4803228"/>
          </a:xfrm>
        </p:spPr>
        <p:txBody>
          <a:bodyPr>
            <a:normAutofit lnSpcReduction="10000"/>
          </a:bodyPr>
          <a:lstStyle/>
          <a:p>
            <a:pPr algn="just"/>
            <a:r>
              <a:rPr lang="en-US" sz="2400" dirty="0">
                <a:latin typeface="Times New Roman" pitchFamily="18" charset="0"/>
                <a:cs typeface="Times New Roman" pitchFamily="18" charset="0"/>
              </a:rPr>
              <a:t>An adaptive gamma correction (AGC) method to enhance dark and bright contrast images to mitigate noise less images. The classification of dark images and bright images is based on the mean intensity of the image. </a:t>
            </a:r>
          </a:p>
          <a:p>
            <a:pPr algn="just"/>
            <a:r>
              <a:rPr lang="en-US" sz="2400" dirty="0">
                <a:latin typeface="Times New Roman" pitchFamily="18" charset="0"/>
                <a:cs typeface="Times New Roman" pitchFamily="18" charset="0"/>
              </a:rPr>
              <a:t>In the assumed that pixels with mean intensity greater than or equal to 0.5are classified as bright pixels, and the mean intensity of less than 0.5 is classified as dark pixels. </a:t>
            </a:r>
          </a:p>
          <a:p>
            <a:pPr algn="just"/>
            <a:r>
              <a:rPr lang="en-US" sz="2400" dirty="0">
                <a:latin typeface="Times New Roman" pitchFamily="18" charset="0"/>
                <a:cs typeface="Times New Roman" pitchFamily="18" charset="0"/>
              </a:rPr>
              <a:t>Then, the classifications of image pixels are enhanced using different types of transformation functions. In addition, the gamma correction factor is calculated dynamically for each image according to its statistical information.</a:t>
            </a:r>
          </a:p>
          <a:p>
            <a:pPr algn="just"/>
            <a:r>
              <a:rPr lang="en-US" sz="2400" dirty="0">
                <a:latin typeface="Times New Roman" pitchFamily="18" charset="0"/>
                <a:cs typeface="Times New Roman" pitchFamily="18" charset="0"/>
              </a:rPr>
              <a:t>Although histogram-based enhancement techniques, namely histogram equalization (HE), is able to provide better enhancement than the conventional spatial domain technique, it poorly equalizes every local detail. </a:t>
            </a:r>
          </a:p>
          <a:p>
            <a:pPr algn="just"/>
            <a:r>
              <a:rPr lang="en-US" sz="2400" dirty="0">
                <a:latin typeface="Times New Roman" pitchFamily="18" charset="0"/>
                <a:cs typeface="Times New Roman" pitchFamily="18" charset="0"/>
              </a:rPr>
              <a:t>This is because HE transformed the original histogram of the entire image into a uniformly distributed histogram, resulting in a loss of visibility.</a:t>
            </a:r>
          </a:p>
          <a:p>
            <a:pPr algn="just"/>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202010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8">
            <a:extLst>
              <a:ext uri="{FF2B5EF4-FFF2-40B4-BE49-F238E27FC236}">
                <a16:creationId xmlns:a16="http://schemas.microsoft.com/office/drawing/2014/main" id="{B0DFCB32-6A29-492F-F4C3-9EE0A04D5A36}"/>
              </a:ext>
            </a:extLst>
          </p:cNvPr>
          <p:cNvGraphicFramePr>
            <a:graphicFrameLocks noGrp="1"/>
          </p:cNvGraphicFramePr>
          <p:nvPr>
            <p:ph idx="1"/>
            <p:extLst>
              <p:ext uri="{D42A27DB-BD31-4B8C-83A1-F6EECF244321}">
                <p14:modId xmlns:p14="http://schemas.microsoft.com/office/powerpoint/2010/main" val="3782939252"/>
              </p:ext>
            </p:extLst>
          </p:nvPr>
        </p:nvGraphicFramePr>
        <p:xfrm>
          <a:off x="1" y="789709"/>
          <a:ext cx="12191999" cy="6108992"/>
        </p:xfrm>
        <a:graphic>
          <a:graphicData uri="http://schemas.openxmlformats.org/drawingml/2006/table">
            <a:tbl>
              <a:tblPr firstRow="1" bandRow="1">
                <a:tableStyleId>{F5AB1C69-6EDB-4FF4-983F-18BD219EF322}</a:tableStyleId>
              </a:tblPr>
              <a:tblGrid>
                <a:gridCol w="3106881">
                  <a:extLst>
                    <a:ext uri="{9D8B030D-6E8A-4147-A177-3AD203B41FA5}">
                      <a16:colId xmlns:a16="http://schemas.microsoft.com/office/drawing/2014/main" val="2785794767"/>
                    </a:ext>
                  </a:extLst>
                </a:gridCol>
                <a:gridCol w="2427028">
                  <a:extLst>
                    <a:ext uri="{9D8B030D-6E8A-4147-A177-3AD203B41FA5}">
                      <a16:colId xmlns:a16="http://schemas.microsoft.com/office/drawing/2014/main" val="994417963"/>
                    </a:ext>
                  </a:extLst>
                </a:gridCol>
                <a:gridCol w="6658090">
                  <a:extLst>
                    <a:ext uri="{9D8B030D-6E8A-4147-A177-3AD203B41FA5}">
                      <a16:colId xmlns:a16="http://schemas.microsoft.com/office/drawing/2014/main" val="468463261"/>
                    </a:ext>
                  </a:extLst>
                </a:gridCol>
              </a:tblGrid>
              <a:tr h="310754">
                <a:tc>
                  <a:txBody>
                    <a:bodyPr/>
                    <a:lstStyle/>
                    <a:p>
                      <a:r>
                        <a:rPr lang="en-US" sz="1200" dirty="0">
                          <a:latin typeface="Arial" panose="020B0604020202020204" pitchFamily="34" charset="0"/>
                          <a:cs typeface="Arial" panose="020B0604020202020204" pitchFamily="34" charset="0"/>
                        </a:rPr>
                        <a:t>            AUTHORS</a:t>
                      </a:r>
                      <a:endParaRPr lang="en-IN" sz="12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     METHODOLOGY</a:t>
                      </a:r>
                      <a:endParaRPr lang="en-IN" sz="1400" dirty="0">
                        <a:latin typeface="Arial" panose="020B0604020202020204" pitchFamily="34" charset="0"/>
                        <a:cs typeface="Arial" panose="020B0604020202020204" pitchFamily="34" charset="0"/>
                      </a:endParaRPr>
                    </a:p>
                  </a:txBody>
                  <a:tcPr/>
                </a:tc>
                <a:tc>
                  <a:txBody>
                    <a:bodyPr/>
                    <a:lstStyle/>
                    <a:p>
                      <a:r>
                        <a:rPr lang="en-US" sz="1400" dirty="0">
                          <a:latin typeface="Arial" panose="020B0604020202020204" pitchFamily="34" charset="0"/>
                          <a:cs typeface="Arial" panose="020B0604020202020204" pitchFamily="34" charset="0"/>
                        </a:rPr>
                        <a:t>              MAJOR FINDINGS</a:t>
                      </a:r>
                      <a:endParaRPr lang="en-IN"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89232590"/>
                  </a:ext>
                </a:extLst>
              </a:tr>
              <a:tr h="652586">
                <a:tc>
                  <a:txBody>
                    <a:bodyPr/>
                    <a:lstStyle/>
                    <a:p>
                      <a:r>
                        <a:rPr lang="en-US" sz="1800" u="none" strike="noStrike" kern="1200" dirty="0" err="1">
                          <a:solidFill>
                            <a:schemeClr val="dk1"/>
                          </a:solidFill>
                          <a:effectLst/>
                          <a:latin typeface="+mn-lt"/>
                          <a:ea typeface="+mn-ea"/>
                          <a:cs typeface="+mn-cs"/>
                        </a:rPr>
                        <a:t>Zhiyuan</a:t>
                      </a:r>
                      <a:r>
                        <a:rPr lang="en-US" sz="1800" u="none" strike="noStrike" kern="1200" dirty="0">
                          <a:solidFill>
                            <a:schemeClr val="dk1"/>
                          </a:solidFill>
                          <a:effectLst/>
                          <a:latin typeface="+mn-lt"/>
                          <a:ea typeface="+mn-ea"/>
                          <a:cs typeface="+mn-cs"/>
                        </a:rPr>
                        <a:t> Zhang (2020)</a:t>
                      </a:r>
                      <a:endParaRPr lang="en-IN" dirty="0"/>
                    </a:p>
                  </a:txBody>
                  <a:tcPr/>
                </a:tc>
                <a:tc>
                  <a:txBody>
                    <a:bodyPr/>
                    <a:lstStyle/>
                    <a:p>
                      <a:r>
                        <a:rPr lang="en-US" sz="1800" kern="1200" dirty="0">
                          <a:solidFill>
                            <a:schemeClr val="dk1"/>
                          </a:solidFill>
                          <a:effectLst/>
                          <a:latin typeface="+mn-lt"/>
                          <a:ea typeface="+mn-ea"/>
                          <a:cs typeface="+mn-cs"/>
                        </a:rPr>
                        <a:t>RRA</a:t>
                      </a:r>
                      <a:endParaRPr lang="en-IN" dirty="0"/>
                    </a:p>
                  </a:txBody>
                  <a:tcPr/>
                </a:tc>
                <a:tc>
                  <a:txBody>
                    <a:bodyPr/>
                    <a:lstStyle/>
                    <a:p>
                      <a:r>
                        <a:rPr lang="en-US" sz="1800" kern="1200" dirty="0">
                          <a:solidFill>
                            <a:schemeClr val="dk1"/>
                          </a:solidFill>
                          <a:effectLst/>
                          <a:latin typeface="+mn-lt"/>
                          <a:ea typeface="+mn-ea"/>
                          <a:cs typeface="+mn-cs"/>
                        </a:rPr>
                        <a:t>This is the 1</a:t>
                      </a:r>
                      <a:r>
                        <a:rPr lang="en-US" sz="1800" kern="1200" baseline="30000" dirty="0">
                          <a:solidFill>
                            <a:schemeClr val="dk1"/>
                          </a:solidFill>
                          <a:effectLst/>
                          <a:latin typeface="+mn-lt"/>
                          <a:ea typeface="+mn-ea"/>
                          <a:cs typeface="+mn-cs"/>
                        </a:rPr>
                        <a:t>st</a:t>
                      </a:r>
                      <a:r>
                        <a:rPr lang="en-US" sz="1800" kern="1200" dirty="0">
                          <a:solidFill>
                            <a:schemeClr val="dk1"/>
                          </a:solidFill>
                          <a:effectLst/>
                          <a:latin typeface="+mn-lt"/>
                          <a:ea typeface="+mn-ea"/>
                          <a:cs typeface="+mn-cs"/>
                        </a:rPr>
                        <a:t> attempt at automatic dental arch extraction and matching for 3D dental identification</a:t>
                      </a:r>
                      <a:endParaRPr lang="en-IN" dirty="0"/>
                    </a:p>
                  </a:txBody>
                  <a:tcPr/>
                </a:tc>
                <a:extLst>
                  <a:ext uri="{0D108BD9-81ED-4DB2-BD59-A6C34878D82A}">
                    <a16:rowId xmlns:a16="http://schemas.microsoft.com/office/drawing/2014/main" val="884234115"/>
                  </a:ext>
                </a:extLst>
              </a:tr>
              <a:tr h="632135">
                <a:tc>
                  <a:txBody>
                    <a:bodyPr/>
                    <a:lstStyle/>
                    <a:p>
                      <a:r>
                        <a:rPr lang="en-US" sz="1800" u="none" strike="noStrike" kern="1200" dirty="0">
                          <a:solidFill>
                            <a:schemeClr val="dk1"/>
                          </a:solidFill>
                          <a:effectLst/>
                          <a:latin typeface="+mn-lt"/>
                          <a:ea typeface="+mn-ea"/>
                          <a:cs typeface="+mn-cs"/>
                        </a:rPr>
                        <a:t>Dora Mimica (</a:t>
                      </a:r>
                      <a:r>
                        <a:rPr lang="en-US" sz="1800" b="0" kern="1200" dirty="0">
                          <a:solidFill>
                            <a:schemeClr val="dk1"/>
                          </a:solidFill>
                          <a:effectLst/>
                          <a:latin typeface="+mn-lt"/>
                          <a:ea typeface="+mn-ea"/>
                          <a:cs typeface="+mn-cs"/>
                        </a:rPr>
                        <a:t>2021)</a:t>
                      </a:r>
                      <a:endParaRPr lang="en-IN" b="0" dirty="0"/>
                    </a:p>
                  </a:txBody>
                  <a:tcPr/>
                </a:tc>
                <a:tc>
                  <a:txBody>
                    <a:bodyPr/>
                    <a:lstStyle/>
                    <a:p>
                      <a:r>
                        <a:rPr lang="en-US" sz="1800" kern="1200" dirty="0">
                          <a:solidFill>
                            <a:schemeClr val="dk1"/>
                          </a:solidFill>
                          <a:effectLst/>
                          <a:latin typeface="+mn-lt"/>
                          <a:ea typeface="+mn-ea"/>
                          <a:cs typeface="+mn-cs"/>
                        </a:rPr>
                        <a:t>Orthodontists</a:t>
                      </a:r>
                      <a:r>
                        <a:rPr lang="en-IN" sz="1800" kern="1200" dirty="0">
                          <a:solidFill>
                            <a:schemeClr val="dk1"/>
                          </a:solidFill>
                          <a:effectLst/>
                          <a:latin typeface="+mn-lt"/>
                          <a:ea typeface="+mn-ea"/>
                          <a:cs typeface="+mn-cs"/>
                        </a:rPr>
                        <a:t> </a:t>
                      </a:r>
                      <a:r>
                        <a:rPr lang="en-US" sz="1800" kern="1200" dirty="0">
                          <a:solidFill>
                            <a:schemeClr val="dk1"/>
                          </a:solidFill>
                          <a:effectLst/>
                          <a:latin typeface="+mn-lt"/>
                          <a:ea typeface="+mn-ea"/>
                          <a:cs typeface="+mn-cs"/>
                        </a:rPr>
                        <a:t>algorithm</a:t>
                      </a:r>
                      <a:endParaRPr lang="en-IN" dirty="0"/>
                    </a:p>
                  </a:txBody>
                  <a:tcPr/>
                </a:tc>
                <a:tc>
                  <a:txBody>
                    <a:bodyPr/>
                    <a:lstStyle/>
                    <a:p>
                      <a:r>
                        <a:rPr lang="en-US" sz="1800" kern="1200" dirty="0">
                          <a:solidFill>
                            <a:schemeClr val="dk1"/>
                          </a:solidFill>
                          <a:effectLst/>
                          <a:latin typeface="+mn-lt"/>
                          <a:ea typeface="+mn-ea"/>
                          <a:cs typeface="+mn-cs"/>
                        </a:rPr>
                        <a:t>Dental cast is an indispensable part of a routine diagnostic and therapeutic procedure</a:t>
                      </a:r>
                      <a:endParaRPr lang="en-IN" dirty="0"/>
                    </a:p>
                  </a:txBody>
                  <a:tcPr/>
                </a:tc>
                <a:extLst>
                  <a:ext uri="{0D108BD9-81ED-4DB2-BD59-A6C34878D82A}">
                    <a16:rowId xmlns:a16="http://schemas.microsoft.com/office/drawing/2014/main" val="1154316234"/>
                  </a:ext>
                </a:extLst>
              </a:tr>
              <a:tr h="632135">
                <a:tc>
                  <a:txBody>
                    <a:bodyPr/>
                    <a:lstStyle/>
                    <a:p>
                      <a:r>
                        <a:rPr lang="en-US" sz="1800" u="none" strike="noStrike" kern="1200" dirty="0">
                          <a:solidFill>
                            <a:schemeClr val="dk1"/>
                          </a:solidFill>
                          <a:effectLst/>
                          <a:latin typeface="+mn-lt"/>
                          <a:ea typeface="+mn-ea"/>
                          <a:cs typeface="+mn-cs"/>
                        </a:rPr>
                        <a:t>Anil </a:t>
                      </a:r>
                      <a:r>
                        <a:rPr lang="en-US" sz="1800" u="none" strike="noStrike" kern="1200" dirty="0" err="1">
                          <a:solidFill>
                            <a:schemeClr val="dk1"/>
                          </a:solidFill>
                          <a:effectLst/>
                          <a:latin typeface="+mn-lt"/>
                          <a:ea typeface="+mn-ea"/>
                          <a:cs typeface="+mn-cs"/>
                        </a:rPr>
                        <a:t>Gurses</a:t>
                      </a:r>
                      <a:r>
                        <a:rPr lang="en-US" sz="1800" u="none" strike="noStrike" kern="1200" dirty="0">
                          <a:solidFill>
                            <a:schemeClr val="dk1"/>
                          </a:solidFill>
                          <a:effectLst/>
                          <a:latin typeface="+mn-lt"/>
                          <a:ea typeface="+mn-ea"/>
                          <a:cs typeface="+mn-cs"/>
                        </a:rPr>
                        <a:t> (</a:t>
                      </a:r>
                      <a:r>
                        <a:rPr lang="en-US" sz="1800" b="0" kern="1200" dirty="0">
                          <a:solidFill>
                            <a:schemeClr val="dk1"/>
                          </a:solidFill>
                          <a:effectLst/>
                          <a:latin typeface="+mn-lt"/>
                          <a:ea typeface="+mn-ea"/>
                          <a:cs typeface="+mn-cs"/>
                        </a:rPr>
                        <a:t>2021)</a:t>
                      </a:r>
                      <a:endParaRPr lang="en-IN" b="0" dirty="0"/>
                    </a:p>
                  </a:txBody>
                  <a:tcPr/>
                </a:tc>
                <a:tc>
                  <a:txBody>
                    <a:bodyPr/>
                    <a:lstStyle/>
                    <a:p>
                      <a:r>
                        <a:rPr lang="en-US" sz="1800" kern="1200" dirty="0">
                          <a:solidFill>
                            <a:schemeClr val="dk1"/>
                          </a:solidFill>
                          <a:effectLst/>
                          <a:latin typeface="+mn-lt"/>
                          <a:ea typeface="+mn-ea"/>
                          <a:cs typeface="+mn-cs"/>
                        </a:rPr>
                        <a:t>R-CNN algorithm</a:t>
                      </a:r>
                      <a:endParaRPr lang="en-IN" dirty="0"/>
                    </a:p>
                  </a:txBody>
                  <a:tcPr/>
                </a:tc>
                <a:tc>
                  <a:txBody>
                    <a:bodyPr/>
                    <a:lstStyle/>
                    <a:p>
                      <a:r>
                        <a:rPr lang="en-US" sz="1800" kern="1200" dirty="0">
                          <a:solidFill>
                            <a:schemeClr val="dk1"/>
                          </a:solidFill>
                          <a:effectLst/>
                          <a:latin typeface="+mn-lt"/>
                          <a:ea typeface="+mn-ea"/>
                          <a:cs typeface="+mn-cs"/>
                        </a:rPr>
                        <a:t>Dental radiography  is crucial for clinical treatment, diagnosis and surgery</a:t>
                      </a:r>
                      <a:endParaRPr lang="en-IN" dirty="0"/>
                    </a:p>
                  </a:txBody>
                  <a:tcPr/>
                </a:tc>
                <a:extLst>
                  <a:ext uri="{0D108BD9-81ED-4DB2-BD59-A6C34878D82A}">
                    <a16:rowId xmlns:a16="http://schemas.microsoft.com/office/drawing/2014/main" val="3207929100"/>
                  </a:ext>
                </a:extLst>
              </a:tr>
              <a:tr h="632135">
                <a:tc>
                  <a:txBody>
                    <a:bodyPr/>
                    <a:lstStyle/>
                    <a:p>
                      <a:r>
                        <a:rPr lang="en-US" sz="1800" u="none" strike="noStrike" kern="1200" dirty="0">
                          <a:solidFill>
                            <a:schemeClr val="dk1"/>
                          </a:solidFill>
                          <a:effectLst/>
                          <a:latin typeface="+mn-lt"/>
                          <a:ea typeface="+mn-ea"/>
                          <a:cs typeface="+mn-cs"/>
                        </a:rPr>
                        <a:t>Sung-</a:t>
                      </a:r>
                      <a:r>
                        <a:rPr lang="en-US" sz="1800" u="none" strike="noStrike" kern="1200" dirty="0" err="1">
                          <a:solidFill>
                            <a:schemeClr val="dk1"/>
                          </a:solidFill>
                          <a:effectLst/>
                          <a:latin typeface="+mn-lt"/>
                          <a:ea typeface="+mn-ea"/>
                          <a:cs typeface="+mn-cs"/>
                        </a:rPr>
                        <a:t>Gwi</a:t>
                      </a:r>
                      <a:r>
                        <a:rPr lang="en-US" sz="1800" u="none" strike="noStrike" kern="1200" dirty="0">
                          <a:solidFill>
                            <a:schemeClr val="dk1"/>
                          </a:solidFill>
                          <a:effectLst/>
                          <a:latin typeface="+mn-lt"/>
                          <a:ea typeface="+mn-ea"/>
                          <a:cs typeface="+mn-cs"/>
                        </a:rPr>
                        <a:t> Cho (</a:t>
                      </a:r>
                      <a:r>
                        <a:rPr lang="en-US" sz="1800" b="0" kern="1200" dirty="0">
                          <a:solidFill>
                            <a:schemeClr val="dk1"/>
                          </a:solidFill>
                          <a:effectLst/>
                          <a:latin typeface="+mn-lt"/>
                          <a:ea typeface="+mn-ea"/>
                          <a:cs typeface="+mn-cs"/>
                        </a:rPr>
                        <a:t>2022)</a:t>
                      </a:r>
                      <a:endParaRPr lang="en-IN" b="0" dirty="0"/>
                    </a:p>
                  </a:txBody>
                  <a:tcPr/>
                </a:tc>
                <a:tc>
                  <a:txBody>
                    <a:bodyPr/>
                    <a:lstStyle/>
                    <a:p>
                      <a:r>
                        <a:rPr lang="en-US" sz="1800" kern="1200" dirty="0">
                          <a:solidFill>
                            <a:schemeClr val="dk1"/>
                          </a:solidFill>
                          <a:effectLst/>
                          <a:latin typeface="+mn-lt"/>
                          <a:ea typeface="+mn-ea"/>
                          <a:cs typeface="+mn-cs"/>
                        </a:rPr>
                        <a:t>R-CNN algorithm</a:t>
                      </a:r>
                      <a:endParaRPr lang="en-IN" dirty="0"/>
                    </a:p>
                  </a:txBody>
                  <a:tcPr/>
                </a:tc>
                <a:tc>
                  <a:txBody>
                    <a:bodyPr/>
                    <a:lstStyle/>
                    <a:p>
                      <a:r>
                        <a:rPr lang="en-US" sz="1800" kern="1200" dirty="0">
                          <a:solidFill>
                            <a:schemeClr val="dk1"/>
                          </a:solidFill>
                          <a:effectLst/>
                          <a:latin typeface="+mn-lt"/>
                          <a:ea typeface="+mn-ea"/>
                          <a:cs typeface="+mn-cs"/>
                        </a:rPr>
                        <a:t>To make this training more efficient, we need to measure the students' skills and show correction points in real-time</a:t>
                      </a:r>
                      <a:endParaRPr lang="en-IN" dirty="0"/>
                    </a:p>
                  </a:txBody>
                  <a:tcPr/>
                </a:tc>
                <a:extLst>
                  <a:ext uri="{0D108BD9-81ED-4DB2-BD59-A6C34878D82A}">
                    <a16:rowId xmlns:a16="http://schemas.microsoft.com/office/drawing/2014/main" val="3349602280"/>
                  </a:ext>
                </a:extLst>
              </a:tr>
              <a:tr h="632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dirty="0" err="1">
                          <a:solidFill>
                            <a:schemeClr val="dk1"/>
                          </a:solidFill>
                          <a:effectLst/>
                          <a:latin typeface="+mn-lt"/>
                          <a:ea typeface="+mn-ea"/>
                          <a:cs typeface="+mn-cs"/>
                        </a:rPr>
                        <a:t>Jaffino</a:t>
                      </a:r>
                      <a:r>
                        <a:rPr lang="en-US" sz="1800" kern="1200" dirty="0">
                          <a:solidFill>
                            <a:schemeClr val="dk1"/>
                          </a:solidFill>
                          <a:effectLst/>
                          <a:latin typeface="+mn-lt"/>
                          <a:ea typeface="+mn-ea"/>
                          <a:cs typeface="+mn-cs"/>
                        </a:rPr>
                        <a:t>, </a:t>
                      </a:r>
                      <a:r>
                        <a:rPr lang="en-US" sz="1800" u="none" strike="noStrike" kern="1200" dirty="0">
                          <a:solidFill>
                            <a:schemeClr val="dk1"/>
                          </a:solidFill>
                          <a:effectLst/>
                          <a:latin typeface="+mn-lt"/>
                          <a:ea typeface="+mn-ea"/>
                          <a:cs typeface="+mn-cs"/>
                        </a:rPr>
                        <a:t> </a:t>
                      </a:r>
                      <a:r>
                        <a:rPr lang="en-US" sz="1800" u="none" strike="noStrike" kern="1200" dirty="0" err="1">
                          <a:solidFill>
                            <a:schemeClr val="dk1"/>
                          </a:solidFill>
                          <a:effectLst/>
                          <a:latin typeface="+mn-lt"/>
                          <a:ea typeface="+mn-ea"/>
                          <a:cs typeface="+mn-cs"/>
                        </a:rPr>
                        <a:t>Banumath</a:t>
                      </a:r>
                      <a:r>
                        <a:rPr lang="en-US" sz="1800" u="none" strike="noStrike" kern="1200" dirty="0">
                          <a:solidFill>
                            <a:schemeClr val="dk1"/>
                          </a:solidFill>
                          <a:effectLst/>
                          <a:latin typeface="+mn-lt"/>
                          <a:ea typeface="+mn-ea"/>
                          <a:cs typeface="+mn-cs"/>
                        </a:rPr>
                        <a:t> (</a:t>
                      </a:r>
                      <a:r>
                        <a:rPr lang="en-US" sz="1800" b="0" kern="1200" dirty="0">
                          <a:solidFill>
                            <a:schemeClr val="dk1"/>
                          </a:solidFill>
                          <a:effectLst/>
                          <a:latin typeface="+mn-lt"/>
                          <a:ea typeface="+mn-ea"/>
                          <a:cs typeface="+mn-cs"/>
                        </a:rPr>
                        <a:t>2021)</a:t>
                      </a:r>
                      <a:endParaRPr lang="en-IN" sz="1800" b="0" kern="1200" dirty="0">
                        <a:solidFill>
                          <a:schemeClr val="dk1"/>
                        </a:solidFill>
                        <a:effectLst/>
                        <a:latin typeface="+mn-lt"/>
                        <a:ea typeface="+mn-ea"/>
                        <a:cs typeface="+mn-cs"/>
                      </a:endParaRPr>
                    </a:p>
                  </a:txBody>
                  <a:tcPr/>
                </a:tc>
                <a:tc>
                  <a:txBody>
                    <a:bodyPr/>
                    <a:lstStyle/>
                    <a:p>
                      <a:r>
                        <a:rPr lang="en-US" sz="1800" kern="1200" dirty="0">
                          <a:solidFill>
                            <a:schemeClr val="dk1"/>
                          </a:solidFill>
                          <a:effectLst/>
                          <a:latin typeface="+mn-lt"/>
                          <a:ea typeface="+mn-ea"/>
                          <a:cs typeface="+mn-cs"/>
                        </a:rPr>
                        <a:t>Clustering algorithm.</a:t>
                      </a:r>
                      <a:endParaRPr lang="en-IN" dirty="0"/>
                    </a:p>
                  </a:txBody>
                  <a:tcPr/>
                </a:tc>
                <a:tc>
                  <a:txBody>
                    <a:bodyPr/>
                    <a:lstStyle/>
                    <a:p>
                      <a:r>
                        <a:rPr lang="en-US" sz="1800" kern="1200" dirty="0">
                          <a:solidFill>
                            <a:schemeClr val="dk1"/>
                          </a:solidFill>
                          <a:effectLst/>
                          <a:latin typeface="+mn-lt"/>
                          <a:ea typeface="+mn-ea"/>
                          <a:cs typeface="+mn-cs"/>
                        </a:rPr>
                        <a:t>Dental x-ray provides the information about teeth, tooth contours and dental work is notable issues for forensic identification</a:t>
                      </a:r>
                      <a:endParaRPr lang="en-IN" dirty="0"/>
                    </a:p>
                  </a:txBody>
                  <a:tcPr/>
                </a:tc>
                <a:extLst>
                  <a:ext uri="{0D108BD9-81ED-4DB2-BD59-A6C34878D82A}">
                    <a16:rowId xmlns:a16="http://schemas.microsoft.com/office/drawing/2014/main" val="1203249420"/>
                  </a:ext>
                </a:extLst>
              </a:tr>
              <a:tr h="635619">
                <a:tc>
                  <a:txBody>
                    <a:bodyPr/>
                    <a:lstStyle/>
                    <a:p>
                      <a:r>
                        <a:rPr lang="en-US" sz="1800" kern="1200" dirty="0">
                          <a:solidFill>
                            <a:schemeClr val="dk1"/>
                          </a:solidFill>
                          <a:effectLst/>
                          <a:latin typeface="+mn-lt"/>
                          <a:ea typeface="+mn-ea"/>
                          <a:cs typeface="+mn-cs"/>
                        </a:rPr>
                        <a:t>Dhruv Verma, Dr Komal Smriti</a:t>
                      </a:r>
                    </a:p>
                    <a:p>
                      <a:r>
                        <a:rPr lang="en-US" sz="1800" b="0" kern="1200" dirty="0">
                          <a:solidFill>
                            <a:schemeClr val="dk1"/>
                          </a:solidFill>
                          <a:effectLst/>
                          <a:latin typeface="+mn-lt"/>
                          <a:ea typeface="+mn-ea"/>
                          <a:cs typeface="+mn-cs"/>
                        </a:rPr>
                        <a:t>(2021)</a:t>
                      </a:r>
                      <a:endParaRPr lang="en-IN" b="0" dirty="0"/>
                    </a:p>
                  </a:txBody>
                  <a:tcPr/>
                </a:tc>
                <a:tc>
                  <a:txBody>
                    <a:bodyPr/>
                    <a:lstStyle/>
                    <a:p>
                      <a:r>
                        <a:rPr lang="en-US" sz="1800" kern="1200" dirty="0">
                          <a:solidFill>
                            <a:schemeClr val="dk1"/>
                          </a:solidFill>
                          <a:effectLst/>
                          <a:latin typeface="+mn-lt"/>
                          <a:ea typeface="+mn-ea"/>
                          <a:cs typeface="+mn-cs"/>
                        </a:rPr>
                        <a:t>We used a pre-image processing algorithm</a:t>
                      </a:r>
                      <a:endParaRPr lang="en-IN" dirty="0"/>
                    </a:p>
                  </a:txBody>
                  <a:tcPr/>
                </a:tc>
                <a:tc>
                  <a:txBody>
                    <a:bodyPr/>
                    <a:lstStyle/>
                    <a:p>
                      <a:r>
                        <a:rPr lang="en-US" sz="1800" kern="1200" dirty="0">
                          <a:solidFill>
                            <a:schemeClr val="dk1"/>
                          </a:solidFill>
                          <a:effectLst/>
                          <a:latin typeface="+mn-lt"/>
                          <a:ea typeface="+mn-ea"/>
                          <a:cs typeface="+mn-cs"/>
                        </a:rPr>
                        <a:t>Automated anomaly detection in panoramic dental x-rays is a crucial step in streamlining post diagnosis treatment</a:t>
                      </a:r>
                      <a:endParaRPr lang="en-IN" dirty="0"/>
                    </a:p>
                  </a:txBody>
                  <a:tcPr/>
                </a:tc>
                <a:extLst>
                  <a:ext uri="{0D108BD9-81ED-4DB2-BD59-A6C34878D82A}">
                    <a16:rowId xmlns:a16="http://schemas.microsoft.com/office/drawing/2014/main" val="4248725985"/>
                  </a:ext>
                </a:extLst>
              </a:tr>
              <a:tr h="635619">
                <a:tc>
                  <a:txBody>
                    <a:bodyPr/>
                    <a:lstStyle/>
                    <a:p>
                      <a:r>
                        <a:rPr lang="en-US" sz="1800" kern="1200" dirty="0">
                          <a:solidFill>
                            <a:schemeClr val="dk1"/>
                          </a:solidFill>
                          <a:effectLst/>
                          <a:latin typeface="+mn-lt"/>
                          <a:ea typeface="+mn-ea"/>
                          <a:cs typeface="+mn-cs"/>
                        </a:rPr>
                        <a:t>K. Vasanth, </a:t>
                      </a:r>
                      <a:r>
                        <a:rPr lang="en-US" sz="1800" kern="1200" dirty="0" err="1">
                          <a:solidFill>
                            <a:schemeClr val="dk1"/>
                          </a:solidFill>
                          <a:effectLst/>
                          <a:latin typeface="+mn-lt"/>
                          <a:ea typeface="+mn-ea"/>
                          <a:cs typeface="+mn-cs"/>
                        </a:rPr>
                        <a:t>Suja</a:t>
                      </a:r>
                      <a:r>
                        <a:rPr lang="en-US" sz="1800" kern="1200" dirty="0">
                          <a:solidFill>
                            <a:schemeClr val="dk1"/>
                          </a:solidFill>
                          <a:effectLst/>
                          <a:latin typeface="+mn-lt"/>
                          <a:ea typeface="+mn-ea"/>
                          <a:cs typeface="+mn-cs"/>
                        </a:rPr>
                        <a:t> D, </a:t>
                      </a:r>
                      <a:r>
                        <a:rPr lang="en-US" sz="1800" kern="1200" dirty="0" err="1">
                          <a:solidFill>
                            <a:schemeClr val="dk1"/>
                          </a:solidFill>
                          <a:effectLst/>
                          <a:latin typeface="+mn-lt"/>
                          <a:ea typeface="+mn-ea"/>
                          <a:cs typeface="+mn-cs"/>
                        </a:rPr>
                        <a:t>Swedha</a:t>
                      </a:r>
                      <a:r>
                        <a:rPr lang="en-US" sz="1800" kern="1200" dirty="0">
                          <a:solidFill>
                            <a:schemeClr val="dk1"/>
                          </a:solidFill>
                          <a:effectLst/>
                          <a:latin typeface="+mn-lt"/>
                          <a:ea typeface="+mn-ea"/>
                          <a:cs typeface="+mn-cs"/>
                        </a:rPr>
                        <a:t> V</a:t>
                      </a:r>
                    </a:p>
                    <a:p>
                      <a:r>
                        <a:rPr lang="en-US" sz="1800" kern="1200" dirty="0">
                          <a:solidFill>
                            <a:schemeClr val="dk1"/>
                          </a:solidFill>
                          <a:effectLst/>
                          <a:latin typeface="+mn-lt"/>
                          <a:ea typeface="+mn-ea"/>
                          <a:cs typeface="+mn-cs"/>
                        </a:rPr>
                        <a:t>(</a:t>
                      </a:r>
                      <a:r>
                        <a:rPr lang="en-US" sz="1800" b="0" kern="1200" dirty="0">
                          <a:solidFill>
                            <a:schemeClr val="dk1"/>
                          </a:solidFill>
                          <a:effectLst/>
                          <a:latin typeface="+mn-lt"/>
                          <a:ea typeface="+mn-ea"/>
                          <a:cs typeface="+mn-cs"/>
                        </a:rPr>
                        <a:t>2021)</a:t>
                      </a:r>
                      <a:endParaRPr lang="en-IN" b="0" dirty="0"/>
                    </a:p>
                  </a:txBody>
                  <a:tcPr/>
                </a:tc>
                <a:tc>
                  <a:txBody>
                    <a:bodyPr/>
                    <a:lstStyle/>
                    <a:p>
                      <a:r>
                        <a:rPr lang="en-US" sz="1800" kern="1200" dirty="0">
                          <a:solidFill>
                            <a:schemeClr val="dk1"/>
                          </a:solidFill>
                          <a:effectLst/>
                          <a:latin typeface="+mn-lt"/>
                          <a:ea typeface="+mn-ea"/>
                          <a:cs typeface="+mn-cs"/>
                        </a:rPr>
                        <a:t>SVM, ANN, KNN </a:t>
                      </a:r>
                      <a:endParaRPr lang="en-IN" dirty="0"/>
                    </a:p>
                  </a:txBody>
                  <a:tcPr/>
                </a:tc>
                <a:tc>
                  <a:txBody>
                    <a:bodyPr/>
                    <a:lstStyle/>
                    <a:p>
                      <a:r>
                        <a:rPr lang="en-US" sz="1800" kern="1200" dirty="0">
                          <a:solidFill>
                            <a:schemeClr val="dk1"/>
                          </a:solidFill>
                          <a:effectLst/>
                          <a:latin typeface="+mn-lt"/>
                          <a:ea typeface="+mn-ea"/>
                          <a:cs typeface="+mn-cs"/>
                        </a:rPr>
                        <a:t>Dental diseases like dental anomalies, periapical and dental caries is increasing day by day in children and adults.</a:t>
                      </a:r>
                      <a:endParaRPr lang="en-IN" dirty="0"/>
                    </a:p>
                  </a:txBody>
                  <a:tcPr/>
                </a:tc>
                <a:extLst>
                  <a:ext uri="{0D108BD9-81ED-4DB2-BD59-A6C34878D82A}">
                    <a16:rowId xmlns:a16="http://schemas.microsoft.com/office/drawing/2014/main" val="1380121682"/>
                  </a:ext>
                </a:extLst>
              </a:tr>
              <a:tr h="652586">
                <a:tc>
                  <a:txBody>
                    <a:bodyPr/>
                    <a:lstStyle/>
                    <a:p>
                      <a:r>
                        <a:rPr lang="en-US" sz="1800" kern="1200" dirty="0">
                          <a:solidFill>
                            <a:schemeClr val="dk1"/>
                          </a:solidFill>
                          <a:effectLst/>
                          <a:latin typeface="+mn-lt"/>
                          <a:ea typeface="+mn-ea"/>
                          <a:cs typeface="+mn-cs"/>
                        </a:rPr>
                        <a:t>Anderson T. </a:t>
                      </a:r>
                      <a:r>
                        <a:rPr lang="en-US" sz="1800" kern="1200" dirty="0" err="1">
                          <a:solidFill>
                            <a:schemeClr val="dk1"/>
                          </a:solidFill>
                          <a:effectLst/>
                          <a:latin typeface="+mn-lt"/>
                          <a:ea typeface="+mn-ea"/>
                          <a:cs typeface="+mn-cs"/>
                        </a:rPr>
                        <a:t>Hara,Li</a:t>
                      </a:r>
                      <a:r>
                        <a:rPr lang="en-US" sz="1800" kern="1200" dirty="0">
                          <a:solidFill>
                            <a:schemeClr val="dk1"/>
                          </a:solidFill>
                          <a:effectLst/>
                          <a:latin typeface="+mn-lt"/>
                          <a:ea typeface="+mn-ea"/>
                          <a:cs typeface="+mn-cs"/>
                        </a:rPr>
                        <a:t> Shenk</a:t>
                      </a:r>
                    </a:p>
                    <a:p>
                      <a:r>
                        <a:rPr lang="en-US" sz="1800" kern="1200" dirty="0">
                          <a:solidFill>
                            <a:schemeClr val="dk1"/>
                          </a:solidFill>
                          <a:effectLst/>
                          <a:latin typeface="+mn-lt"/>
                          <a:ea typeface="+mn-ea"/>
                          <a:cs typeface="+mn-cs"/>
                        </a:rPr>
                        <a:t>(</a:t>
                      </a:r>
                      <a:r>
                        <a:rPr lang="en-US" sz="1800" b="0" kern="1200" dirty="0">
                          <a:solidFill>
                            <a:schemeClr val="dk1"/>
                          </a:solidFill>
                          <a:effectLst/>
                          <a:latin typeface="+mn-lt"/>
                          <a:ea typeface="+mn-ea"/>
                          <a:cs typeface="+mn-cs"/>
                        </a:rPr>
                        <a:t>2020)</a:t>
                      </a:r>
                      <a:endParaRPr lang="en-IN" b="0" dirty="0"/>
                    </a:p>
                  </a:txBody>
                  <a:tcPr/>
                </a:tc>
                <a:tc>
                  <a:txBody>
                    <a:bodyPr/>
                    <a:lstStyle/>
                    <a:p>
                      <a:r>
                        <a:rPr lang="en-US" sz="1800" kern="1200" dirty="0">
                          <a:solidFill>
                            <a:schemeClr val="dk1"/>
                          </a:solidFill>
                          <a:effectLst/>
                          <a:latin typeface="+mn-lt"/>
                          <a:ea typeface="+mn-ea"/>
                          <a:cs typeface="+mn-cs"/>
                        </a:rPr>
                        <a:t>Trees Regression is an algorithm</a:t>
                      </a:r>
                      <a:endParaRPr lang="en-IN" dirty="0"/>
                    </a:p>
                  </a:txBody>
                  <a:tcPr/>
                </a:tc>
                <a:tc>
                  <a:txBody>
                    <a:bodyPr/>
                    <a:lstStyle/>
                    <a:p>
                      <a:r>
                        <a:rPr lang="en-US" sz="1800" kern="1200" dirty="0">
                          <a:solidFill>
                            <a:schemeClr val="dk1"/>
                          </a:solidFill>
                          <a:effectLst/>
                          <a:latin typeface="+mn-lt"/>
                          <a:ea typeface="+mn-ea"/>
                          <a:cs typeface="+mn-cs"/>
                        </a:rPr>
                        <a:t>Despite machine learning in various biomedical domains, applications to dental hard tissue conditions</a:t>
                      </a:r>
                      <a:endParaRPr lang="en-IN" dirty="0"/>
                    </a:p>
                  </a:txBody>
                  <a:tcPr/>
                </a:tc>
                <a:extLst>
                  <a:ext uri="{0D108BD9-81ED-4DB2-BD59-A6C34878D82A}">
                    <a16:rowId xmlns:a16="http://schemas.microsoft.com/office/drawing/2014/main" val="810103406"/>
                  </a:ext>
                </a:extLst>
              </a:tr>
              <a:tr h="652586">
                <a:tc>
                  <a:txBody>
                    <a:bodyPr/>
                    <a:lstStyle/>
                    <a:p>
                      <a:r>
                        <a:rPr lang="en-US" sz="1800" kern="1200" dirty="0">
                          <a:solidFill>
                            <a:schemeClr val="dk1"/>
                          </a:solidFill>
                          <a:effectLst/>
                          <a:latin typeface="+mn-lt"/>
                          <a:ea typeface="+mn-ea"/>
                          <a:cs typeface="+mn-cs"/>
                        </a:rPr>
                        <a:t>S. </a:t>
                      </a:r>
                      <a:r>
                        <a:rPr lang="en-US" sz="1800" kern="1200" dirty="0" err="1">
                          <a:solidFill>
                            <a:schemeClr val="dk1"/>
                          </a:solidFill>
                          <a:effectLst/>
                          <a:latin typeface="+mn-lt"/>
                          <a:ea typeface="+mn-ea"/>
                          <a:cs typeface="+mn-cs"/>
                        </a:rPr>
                        <a:t>Sivagami</a:t>
                      </a:r>
                      <a:r>
                        <a:rPr lang="en-US" sz="1800" kern="1200" dirty="0">
                          <a:solidFill>
                            <a:schemeClr val="dk1"/>
                          </a:solidFill>
                          <a:effectLst/>
                          <a:latin typeface="+mn-lt"/>
                          <a:ea typeface="+mn-ea"/>
                          <a:cs typeface="+mn-cs"/>
                        </a:rPr>
                        <a:t>, P. Chitra, G. Sri Ram (</a:t>
                      </a:r>
                      <a:r>
                        <a:rPr lang="en-US" sz="1800" b="0" kern="1200" dirty="0">
                          <a:solidFill>
                            <a:schemeClr val="dk1"/>
                          </a:solidFill>
                          <a:effectLst/>
                          <a:latin typeface="+mn-lt"/>
                          <a:ea typeface="+mn-ea"/>
                          <a:cs typeface="+mn-cs"/>
                        </a:rPr>
                        <a:t>2020)</a:t>
                      </a:r>
                      <a:endParaRPr lang="en-IN" b="0" dirty="0"/>
                    </a:p>
                  </a:txBody>
                  <a:tcPr/>
                </a:tc>
                <a:tc>
                  <a:txBody>
                    <a:bodyPr/>
                    <a:lstStyle/>
                    <a:p>
                      <a:r>
                        <a:rPr lang="en-US" sz="1800" kern="1200" dirty="0">
                          <a:solidFill>
                            <a:schemeClr val="dk1"/>
                          </a:solidFill>
                          <a:effectLst/>
                          <a:latin typeface="+mn-lt"/>
                          <a:ea typeface="+mn-ea"/>
                          <a:cs typeface="+mn-cs"/>
                        </a:rPr>
                        <a:t>Watershed Algorithms</a:t>
                      </a:r>
                      <a:endParaRPr lang="en-IN" dirty="0"/>
                    </a:p>
                  </a:txBody>
                  <a:tcPr/>
                </a:tc>
                <a:tc>
                  <a:txBody>
                    <a:bodyPr/>
                    <a:lstStyle/>
                    <a:p>
                      <a:r>
                        <a:rPr lang="en-US" sz="1800" kern="1200" dirty="0">
                          <a:solidFill>
                            <a:schemeClr val="dk1"/>
                          </a:solidFill>
                          <a:effectLst/>
                          <a:latin typeface="+mn-lt"/>
                          <a:ea typeface="+mn-ea"/>
                          <a:cs typeface="+mn-cs"/>
                        </a:rPr>
                        <a:t>This paper proposes an </a:t>
                      </a:r>
                      <a:r>
                        <a:rPr lang="en-US" sz="1800" kern="1200" dirty="0" err="1">
                          <a:solidFill>
                            <a:schemeClr val="dk1"/>
                          </a:solidFill>
                          <a:effectLst/>
                          <a:latin typeface="+mn-lt"/>
                          <a:ea typeface="+mn-ea"/>
                          <a:cs typeface="+mn-cs"/>
                        </a:rPr>
                        <a:t>UNet</a:t>
                      </a:r>
                      <a:r>
                        <a:rPr lang="en-US" sz="1800" kern="1200" dirty="0">
                          <a:solidFill>
                            <a:schemeClr val="dk1"/>
                          </a:solidFill>
                          <a:effectLst/>
                          <a:latin typeface="+mn-lt"/>
                          <a:ea typeface="+mn-ea"/>
                          <a:cs typeface="+mn-cs"/>
                        </a:rPr>
                        <a:t> architecture that uses convolutional neural </a:t>
                      </a:r>
                      <a:endParaRPr lang="en-IN" dirty="0"/>
                    </a:p>
                  </a:txBody>
                  <a:tcPr/>
                </a:tc>
                <a:extLst>
                  <a:ext uri="{0D108BD9-81ED-4DB2-BD59-A6C34878D82A}">
                    <a16:rowId xmlns:a16="http://schemas.microsoft.com/office/drawing/2014/main" val="2070047322"/>
                  </a:ext>
                </a:extLst>
              </a:tr>
            </a:tbl>
          </a:graphicData>
        </a:graphic>
      </p:graphicFrame>
      <p:sp>
        <p:nvSpPr>
          <p:cNvPr id="14" name="TextBox 13">
            <a:extLst>
              <a:ext uri="{FF2B5EF4-FFF2-40B4-BE49-F238E27FC236}">
                <a16:creationId xmlns:a16="http://schemas.microsoft.com/office/drawing/2014/main" id="{97329736-2126-6EA9-B996-0353F4C9B9C5}"/>
              </a:ext>
            </a:extLst>
          </p:cNvPr>
          <p:cNvSpPr txBox="1"/>
          <p:nvPr/>
        </p:nvSpPr>
        <p:spPr>
          <a:xfrm>
            <a:off x="301336" y="322118"/>
            <a:ext cx="906087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4638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B79FB-4F1D-A11F-8BEA-BDC71FDDC9B8}"/>
              </a:ext>
            </a:extLst>
          </p:cNvPr>
          <p:cNvSpPr>
            <a:spLocks noGrp="1"/>
          </p:cNvSpPr>
          <p:nvPr>
            <p:ph type="title"/>
          </p:nvPr>
        </p:nvSpPr>
        <p:spPr>
          <a:xfrm>
            <a:off x="838200" y="123078"/>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DEVELOPMENT ENVIRONMENT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33FEA4-FB6E-87B9-C467-091F9B2812C3}"/>
              </a:ext>
            </a:extLst>
          </p:cNvPr>
          <p:cNvSpPr>
            <a:spLocks noGrp="1"/>
          </p:cNvSpPr>
          <p:nvPr>
            <p:ph idx="1"/>
          </p:nvPr>
        </p:nvSpPr>
        <p:spPr>
          <a:xfrm>
            <a:off x="838199" y="1448640"/>
            <a:ext cx="8520953" cy="3234981"/>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HARDWARE ENVIRONMENT</a:t>
            </a:r>
            <a:r>
              <a:rPr lang="en-US" dirty="0"/>
              <a:t>:                  </a:t>
            </a:r>
          </a:p>
          <a:p>
            <a:pPr marL="0" indent="0">
              <a:buNone/>
            </a:pPr>
            <a:r>
              <a:rPr lang="en-US" dirty="0"/>
              <a:t>• </a:t>
            </a:r>
            <a:r>
              <a:rPr lang="en-US" dirty="0">
                <a:latin typeface="Times New Roman" panose="02020603050405020304" pitchFamily="18" charset="0"/>
                <a:cs typeface="Times New Roman" panose="02020603050405020304" pitchFamily="18" charset="0"/>
              </a:rPr>
              <a:t>Processor - I5</a:t>
            </a:r>
          </a:p>
          <a:p>
            <a:pPr marL="0" indent="0">
              <a:buNone/>
            </a:pPr>
            <a:r>
              <a:rPr lang="en-US" dirty="0">
                <a:latin typeface="Times New Roman" panose="02020603050405020304" pitchFamily="18" charset="0"/>
                <a:cs typeface="Times New Roman" panose="02020603050405020304" pitchFamily="18" charset="0"/>
              </a:rPr>
              <a:t>• Speed - 3 GHz </a:t>
            </a:r>
          </a:p>
          <a:p>
            <a:pPr marL="0" indent="0">
              <a:buNone/>
            </a:pPr>
            <a:r>
              <a:rPr lang="en-US" dirty="0">
                <a:latin typeface="Times New Roman" panose="02020603050405020304" pitchFamily="18" charset="0"/>
                <a:cs typeface="Times New Roman" panose="02020603050405020304" pitchFamily="18" charset="0"/>
              </a:rPr>
              <a:t>• RAM - 8 GB (min)</a:t>
            </a:r>
          </a:p>
          <a:p>
            <a:pPr marL="0" indent="0">
              <a:buNone/>
            </a:pPr>
            <a:r>
              <a:rPr lang="en-US" dirty="0">
                <a:latin typeface="Times New Roman" panose="02020603050405020304" pitchFamily="18" charset="0"/>
                <a:cs typeface="Times New Roman" panose="02020603050405020304" pitchFamily="18" charset="0"/>
              </a:rPr>
              <a:t>• Hard Disk - 500 GB </a:t>
            </a:r>
          </a:p>
          <a:p>
            <a:pPr marL="0" indent="0">
              <a:buNone/>
            </a:pPr>
            <a:r>
              <a:rPr lang="en-US" dirty="0">
                <a:latin typeface="Times New Roman" panose="02020603050405020304" pitchFamily="18" charset="0"/>
                <a:cs typeface="Times New Roman" panose="02020603050405020304" pitchFamily="18" charset="0"/>
              </a:rPr>
              <a:t>• Key Board - Standard Windows Keyboard</a:t>
            </a:r>
          </a:p>
          <a:p>
            <a:pPr marL="0" indent="0">
              <a:buNone/>
            </a:pPr>
            <a:r>
              <a:rPr lang="en-US" dirty="0">
                <a:latin typeface="Times New Roman" panose="02020603050405020304" pitchFamily="18" charset="0"/>
                <a:cs typeface="Times New Roman" panose="02020603050405020304" pitchFamily="18" charset="0"/>
              </a:rPr>
              <a:t>• Mouse - Two or Three Button Mouse </a:t>
            </a:r>
          </a:p>
          <a:p>
            <a:pPr marL="0" indent="0">
              <a:buNone/>
            </a:pPr>
            <a:r>
              <a:rPr lang="en-US" dirty="0">
                <a:latin typeface="Times New Roman" panose="02020603050405020304" pitchFamily="18" charset="0"/>
                <a:cs typeface="Times New Roman" panose="02020603050405020304" pitchFamily="18" charset="0"/>
              </a:rPr>
              <a:t>• Monitor - LCD </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F2A038A-ECEF-53A6-4F0D-D367BEFCD18E}"/>
              </a:ext>
            </a:extLst>
          </p:cNvPr>
          <p:cNvSpPr txBox="1"/>
          <p:nvPr/>
        </p:nvSpPr>
        <p:spPr>
          <a:xfrm>
            <a:off x="933255" y="4683622"/>
            <a:ext cx="8865372" cy="1692771"/>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SOFTWARE ENVIRONMENT</a:t>
            </a:r>
            <a:r>
              <a:rPr lang="en-US" sz="2600" dirty="0">
                <a:latin typeface="Times New Roman" panose="02020603050405020304" pitchFamily="18" charset="0"/>
                <a:cs typeface="Times New Roman" panose="02020603050405020304" pitchFamily="18" charset="0"/>
              </a:rPr>
              <a:t>: </a:t>
            </a:r>
          </a:p>
          <a:p>
            <a:r>
              <a:rPr lang="en-US" sz="2600" dirty="0">
                <a:latin typeface="Times New Roman" panose="02020603050405020304" pitchFamily="18" charset="0"/>
                <a:cs typeface="Times New Roman" panose="02020603050405020304" pitchFamily="18" charset="0"/>
              </a:rPr>
              <a:t>• Operating System Windows/7/10</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Python</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Flask</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622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AF2A0C-D520-56BE-11CB-0E8439EB64B7}"/>
              </a:ext>
            </a:extLst>
          </p:cNvPr>
          <p:cNvSpPr txBox="1"/>
          <p:nvPr/>
        </p:nvSpPr>
        <p:spPr>
          <a:xfrm>
            <a:off x="564776" y="240865"/>
            <a:ext cx="6096000" cy="646331"/>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SYSTEM ARCHITECTURE </a:t>
            </a:r>
            <a:endParaRPr lang="en-IN" sz="3600" b="1"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7F6ABE1F-F052-7CAB-D1F5-33E628E0964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9876" y="887196"/>
            <a:ext cx="7872248" cy="5845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364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FB299-9454-4E4D-7D94-CBFF904E74F1}"/>
              </a:ext>
            </a:extLst>
          </p:cNvPr>
          <p:cNvSpPr>
            <a:spLocks noGrp="1"/>
          </p:cNvSpPr>
          <p:nvPr>
            <p:ph type="title"/>
          </p:nvPr>
        </p:nvSpPr>
        <p:spPr>
          <a:xfrm>
            <a:off x="838200" y="365126"/>
            <a:ext cx="10515600" cy="748972"/>
          </a:xfrm>
        </p:spPr>
        <p:txBody>
          <a:bodyPr>
            <a:normAutofit/>
          </a:bodyPr>
          <a:lstStyle/>
          <a:p>
            <a:r>
              <a:rPr lang="en-US" sz="4000" b="1" dirty="0">
                <a:latin typeface="Times New Roman" panose="02020603050405020304" pitchFamily="18" charset="0"/>
                <a:cs typeface="Times New Roman" panose="02020603050405020304" pitchFamily="18" charset="0"/>
              </a:rPr>
              <a:t>E-R DIAGRAM </a:t>
            </a:r>
            <a:endParaRPr lang="en-IN" sz="4000" b="1"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21D50F2C-6995-538A-0078-C2C9ECA53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26" y="987973"/>
            <a:ext cx="11810147" cy="550490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8E62C7D-64B5-0B5D-E49C-FBE83FAD7CDB}"/>
              </a:ext>
            </a:extLst>
          </p:cNvPr>
          <p:cNvSpPr txBox="1"/>
          <p:nvPr/>
        </p:nvSpPr>
        <p:spPr>
          <a:xfrm>
            <a:off x="6663560" y="3429001"/>
            <a:ext cx="777763" cy="369332"/>
          </a:xfrm>
          <a:prstGeom prst="rect">
            <a:avLst/>
          </a:prstGeom>
          <a:noFill/>
        </p:spPr>
        <p:txBody>
          <a:bodyPr wrap="square" rtlCol="0">
            <a:spAutoFit/>
          </a:bodyPr>
          <a:lstStyle/>
          <a:p>
            <a:r>
              <a:rPr lang="en-US" sz="1800" b="1" kern="1200" dirty="0">
                <a:solidFill>
                  <a:schemeClr val="tx1"/>
                </a:solidFill>
                <a:latin typeface="+mn-lt"/>
                <a:ea typeface="+mn-ea"/>
                <a:cs typeface="+mn-cs"/>
              </a:rPr>
              <a:t>HAS</a:t>
            </a:r>
          </a:p>
        </p:txBody>
      </p:sp>
    </p:spTree>
    <p:extLst>
      <p:ext uri="{BB962C8B-B14F-4D97-AF65-F5344CB8AC3E}">
        <p14:creationId xmlns:p14="http://schemas.microsoft.com/office/powerpoint/2010/main" val="533631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936C5-E4E2-EB0D-F57A-D6A8F53B6DF0}"/>
              </a:ext>
            </a:extLst>
          </p:cNvPr>
          <p:cNvSpPr>
            <a:spLocks noGrp="1"/>
          </p:cNvSpPr>
          <p:nvPr>
            <p:ph type="title"/>
          </p:nvPr>
        </p:nvSpPr>
        <p:spPr>
          <a:xfrm>
            <a:off x="627993" y="0"/>
            <a:ext cx="10515600" cy="1325563"/>
          </a:xfrm>
        </p:spPr>
        <p:txBody>
          <a:bodyPr>
            <a:normAutofit/>
          </a:bodyPr>
          <a:lstStyle/>
          <a:p>
            <a:r>
              <a:rPr lang="en-IN" sz="2800" b="1" i="0" u="none" strike="noStrike" dirty="0">
                <a:solidFill>
                  <a:srgbClr val="000000"/>
                </a:solidFill>
                <a:effectLst/>
                <a:latin typeface="Times New Roman" panose="02020603050405020304" pitchFamily="18" charset="0"/>
              </a:rPr>
              <a:t>USE CASE</a:t>
            </a:r>
            <a:r>
              <a:rPr lang="en-IN" sz="2800" i="0" u="none" strike="noStrike" dirty="0">
                <a:solidFill>
                  <a:srgbClr val="000000"/>
                </a:solidFill>
                <a:effectLst/>
                <a:latin typeface="Times New Roman" panose="02020603050405020304" pitchFamily="18" charset="0"/>
              </a:rPr>
              <a:t>:</a:t>
            </a:r>
            <a:endParaRPr lang="en-IN" sz="2800" dirty="0"/>
          </a:p>
        </p:txBody>
      </p:sp>
      <p:pic>
        <p:nvPicPr>
          <p:cNvPr id="4098" name="Picture 2">
            <a:extLst>
              <a:ext uri="{FF2B5EF4-FFF2-40B4-BE49-F238E27FC236}">
                <a16:creationId xmlns:a16="http://schemas.microsoft.com/office/drawing/2014/main" id="{6683A214-122A-E9F7-8CD4-147685C69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539" y="851337"/>
            <a:ext cx="11254880" cy="6006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60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BB0A-7E05-8028-7E32-D9F2DD9EB6FA}"/>
              </a:ext>
            </a:extLst>
          </p:cNvPr>
          <p:cNvSpPr>
            <a:spLocks noGrp="1"/>
          </p:cNvSpPr>
          <p:nvPr>
            <p:ph type="title"/>
          </p:nvPr>
        </p:nvSpPr>
        <p:spPr>
          <a:xfrm>
            <a:off x="417786" y="-170902"/>
            <a:ext cx="10515600" cy="1325563"/>
          </a:xfrm>
        </p:spPr>
        <p:txBody>
          <a:bodyPr>
            <a:normAutofit/>
          </a:bodyPr>
          <a:lstStyle/>
          <a:p>
            <a:r>
              <a:rPr lang="en-IN" sz="2800" b="1" i="0" u="none" strike="noStrike" dirty="0">
                <a:solidFill>
                  <a:srgbClr val="000000"/>
                </a:solidFill>
                <a:effectLst/>
                <a:latin typeface="Times New Roman" panose="02020603050405020304" pitchFamily="18" charset="0"/>
              </a:rPr>
              <a:t>SEQUENCE DIAGRAM</a:t>
            </a:r>
            <a:r>
              <a:rPr lang="en-IN" sz="2800" i="0" u="none" strike="noStrike" dirty="0">
                <a:solidFill>
                  <a:srgbClr val="000000"/>
                </a:solidFill>
                <a:effectLst/>
                <a:latin typeface="Times New Roman" panose="02020603050405020304" pitchFamily="18" charset="0"/>
              </a:rPr>
              <a:t>:</a:t>
            </a:r>
            <a:endParaRPr lang="en-IN" sz="2800" dirty="0"/>
          </a:p>
        </p:txBody>
      </p:sp>
      <p:pic>
        <p:nvPicPr>
          <p:cNvPr id="6146" name="Picture 2">
            <a:extLst>
              <a:ext uri="{FF2B5EF4-FFF2-40B4-BE49-F238E27FC236}">
                <a16:creationId xmlns:a16="http://schemas.microsoft.com/office/drawing/2014/main" id="{5D9F3599-B1B0-579A-B94D-97DB199C5A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442" y="812371"/>
            <a:ext cx="10515600" cy="6045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1405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34EF-DEE4-F1E2-83C2-8B86A02526B7}"/>
              </a:ext>
            </a:extLst>
          </p:cNvPr>
          <p:cNvSpPr>
            <a:spLocks noGrp="1"/>
          </p:cNvSpPr>
          <p:nvPr>
            <p:ph type="title"/>
          </p:nvPr>
        </p:nvSpPr>
        <p:spPr>
          <a:xfrm>
            <a:off x="512379" y="-210207"/>
            <a:ext cx="10515600" cy="1325563"/>
          </a:xfrm>
        </p:spPr>
        <p:txBody>
          <a:bodyPr>
            <a:normAutofit/>
          </a:bodyPr>
          <a:lstStyle/>
          <a:p>
            <a:r>
              <a:rPr lang="en-IN" sz="2800" b="1" i="0" u="none" strike="noStrike" dirty="0">
                <a:solidFill>
                  <a:srgbClr val="000000"/>
                </a:solidFill>
                <a:effectLst/>
                <a:latin typeface="Times New Roman" panose="02020603050405020304" pitchFamily="18" charset="0"/>
              </a:rPr>
              <a:t>ACTIVITY DIAGRAM</a:t>
            </a:r>
            <a:r>
              <a:rPr lang="en-IN" sz="2800" i="0" u="none" strike="noStrike" dirty="0">
                <a:solidFill>
                  <a:srgbClr val="000000"/>
                </a:solidFill>
                <a:effectLst/>
                <a:latin typeface="Times New Roman" panose="02020603050405020304" pitchFamily="18" charset="0"/>
              </a:rPr>
              <a:t>:</a:t>
            </a:r>
            <a:endParaRPr lang="en-IN" sz="2800" dirty="0"/>
          </a:p>
        </p:txBody>
      </p:sp>
      <p:pic>
        <p:nvPicPr>
          <p:cNvPr id="7170" name="Picture 2">
            <a:extLst>
              <a:ext uri="{FF2B5EF4-FFF2-40B4-BE49-F238E27FC236}">
                <a16:creationId xmlns:a16="http://schemas.microsoft.com/office/drawing/2014/main" id="{64D025F8-FC2A-62ED-C467-749801CED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254" y="662153"/>
            <a:ext cx="10260725" cy="6195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703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5D131-75B1-066F-4B58-1692FC5A31E0}"/>
              </a:ext>
            </a:extLst>
          </p:cNvPr>
          <p:cNvSpPr>
            <a:spLocks noGrp="1"/>
          </p:cNvSpPr>
          <p:nvPr>
            <p:ph type="title"/>
          </p:nvPr>
        </p:nvSpPr>
        <p:spPr>
          <a:xfrm>
            <a:off x="838200" y="598537"/>
            <a:ext cx="10515600" cy="1325563"/>
          </a:xfrm>
        </p:spPr>
        <p:txBody>
          <a:bodyPr/>
          <a:lstStyle/>
          <a:p>
            <a:r>
              <a:rPr lang="en-IN" sz="4400" b="1" i="0" u="none" strike="noStrike">
                <a:solidFill>
                  <a:srgbClr val="000000"/>
                </a:solidFill>
                <a:effectLst/>
                <a:latin typeface="Times New Roman" panose="02020603050405020304" pitchFamily="18" charset="0"/>
              </a:rPr>
              <a:t> DFD DIAGRAM </a:t>
            </a:r>
            <a:br>
              <a:rPr lang="en-IN" sz="4400" dirty="0"/>
            </a:br>
            <a:endParaRPr lang="en-IN" dirty="0"/>
          </a:p>
        </p:txBody>
      </p:sp>
      <p:pic>
        <p:nvPicPr>
          <p:cNvPr id="4" name="Picture 2">
            <a:extLst>
              <a:ext uri="{FF2B5EF4-FFF2-40B4-BE49-F238E27FC236}">
                <a16:creationId xmlns:a16="http://schemas.microsoft.com/office/drawing/2014/main" id="{53ED3D78-1690-4384-959D-2F26AF3E1A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2613" y="1261319"/>
            <a:ext cx="8480610" cy="5488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886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6676-638B-B584-2F52-C9528241C930}"/>
              </a:ext>
            </a:extLst>
          </p:cNvPr>
          <p:cNvSpPr>
            <a:spLocks noGrp="1"/>
          </p:cNvSpPr>
          <p:nvPr>
            <p:ph type="title"/>
          </p:nvPr>
        </p:nvSpPr>
        <p:spPr>
          <a:xfrm>
            <a:off x="838199" y="2354959"/>
            <a:ext cx="10765221" cy="4329619"/>
          </a:xfrm>
        </p:spPr>
        <p:txBody>
          <a:bodyPr>
            <a:normAutofit fontScale="90000"/>
          </a:bodyPr>
          <a:lstStyle/>
          <a:p>
            <a:pPr rtl="0">
              <a:spcBef>
                <a:spcPts val="0"/>
              </a:spcBef>
              <a:spcAft>
                <a:spcPts val="800"/>
              </a:spcAft>
            </a:pPr>
            <a:r>
              <a:rPr lang="en-US" sz="3100" i="0" u="none" strike="noStrike" dirty="0">
                <a:solidFill>
                  <a:srgbClr val="000000"/>
                </a:solidFill>
                <a:effectLst/>
                <a:latin typeface="Times New Roman" panose="02020603050405020304" pitchFamily="18" charset="0"/>
              </a:rPr>
              <a:t>1. DATA GENERATION USING BALANCING IMAGE</a:t>
            </a:r>
            <a:br>
              <a:rPr lang="en-US" sz="3100" i="0" u="none" strike="noStrike" dirty="0">
                <a:solidFill>
                  <a:srgbClr val="000000"/>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2. FORENSIC FREQUENCY PREDICTION BY </a:t>
            </a:r>
            <a:r>
              <a:rPr lang="en-US" sz="3100" i="0" u="none" strike="noStrike" dirty="0">
                <a:solidFill>
                  <a:srgbClr val="222222"/>
                </a:solidFill>
                <a:effectLst/>
                <a:latin typeface="Times New Roman" panose="02020603050405020304" pitchFamily="18" charset="0"/>
              </a:rPr>
              <a:t>CLAHE</a:t>
            </a:r>
            <a:br>
              <a:rPr lang="en-US" sz="3100" i="0" u="none" strike="noStrike" dirty="0">
                <a:solidFill>
                  <a:srgbClr val="222222"/>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3. FORENSIC FREQUENCY PREDICTION USING DENTAL IMAGE</a:t>
            </a:r>
            <a:br>
              <a:rPr lang="en-US" sz="3100" i="0" u="none" strike="noStrike" dirty="0">
                <a:solidFill>
                  <a:srgbClr val="000000"/>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4. LATENT PART LOCALIZATION</a:t>
            </a:r>
            <a:br>
              <a:rPr lang="en-US" sz="3100" i="0" u="none" strike="noStrike" dirty="0">
                <a:solidFill>
                  <a:srgbClr val="000000"/>
                </a:solidFill>
                <a:effectLst/>
                <a:latin typeface="Times New Roman" panose="02020603050405020304" pitchFamily="18" charset="0"/>
              </a:rPr>
            </a:br>
            <a:br>
              <a:rPr lang="en-US" sz="3100" i="0" u="none" strike="noStrike" dirty="0">
                <a:solidFill>
                  <a:srgbClr val="000000"/>
                </a:solidFill>
                <a:effectLst/>
                <a:latin typeface="Times New Roman" panose="02020603050405020304" pitchFamily="18" charset="0"/>
              </a:rPr>
            </a:br>
            <a:r>
              <a:rPr lang="en-US" sz="3100" i="0" u="none" strike="noStrike" dirty="0">
                <a:solidFill>
                  <a:srgbClr val="000000"/>
                </a:solidFill>
                <a:effectLst/>
                <a:latin typeface="Times New Roman" panose="02020603050405020304" pitchFamily="18" charset="0"/>
              </a:rPr>
              <a:t>5. CONTRASTIVE LEARNING WITH DSA</a:t>
            </a:r>
            <a:br>
              <a:rPr lang="en-US" sz="1600" i="0" u="none" strike="noStrike" dirty="0">
                <a:solidFill>
                  <a:srgbClr val="000000"/>
                </a:solidFill>
                <a:effectLst/>
                <a:latin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DAD1E11E-1EB2-680A-825A-2BF46B41B909}"/>
              </a:ext>
            </a:extLst>
          </p:cNvPr>
          <p:cNvSpPr txBox="1"/>
          <p:nvPr/>
        </p:nvSpPr>
        <p:spPr>
          <a:xfrm>
            <a:off x="1524000" y="1093075"/>
            <a:ext cx="9322676" cy="1261884"/>
          </a:xfrm>
          <a:prstGeom prst="rect">
            <a:avLst/>
          </a:prstGeom>
          <a:noFill/>
        </p:spPr>
        <p:txBody>
          <a:bodyPr wrap="square" rtlCol="0">
            <a:spAutoFit/>
          </a:bodyPr>
          <a:lstStyle/>
          <a:p>
            <a:pPr algn="ctr"/>
            <a:r>
              <a:rPr lang="en-US" sz="4000" b="1" i="0" u="none" strike="noStrike" dirty="0">
                <a:solidFill>
                  <a:srgbClr val="000000"/>
                </a:solidFill>
                <a:effectLst/>
                <a:latin typeface="Times New Roman" panose="02020603050405020304" pitchFamily="18" charset="0"/>
              </a:rPr>
              <a:t>M</a:t>
            </a:r>
            <a:r>
              <a:rPr lang="en-US" sz="3600" b="1" i="0" u="none" strike="noStrike" dirty="0">
                <a:solidFill>
                  <a:srgbClr val="000000"/>
                </a:solidFill>
                <a:effectLst/>
                <a:latin typeface="Times New Roman" panose="02020603050405020304" pitchFamily="18" charset="0"/>
              </a:rPr>
              <a:t>ODULES, DESIGN AND SPECIFICATION LIST OF MODULES</a:t>
            </a:r>
            <a:endParaRPr lang="en-IN" dirty="0"/>
          </a:p>
        </p:txBody>
      </p:sp>
    </p:spTree>
    <p:extLst>
      <p:ext uri="{BB962C8B-B14F-4D97-AF65-F5344CB8AC3E}">
        <p14:creationId xmlns:p14="http://schemas.microsoft.com/office/powerpoint/2010/main" val="4224721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11A69F-4060-3144-DB91-B57809733A46}"/>
              </a:ext>
            </a:extLst>
          </p:cNvPr>
          <p:cNvSpPr>
            <a:spLocks noGrp="1"/>
          </p:cNvSpPr>
          <p:nvPr>
            <p:ph idx="1"/>
          </p:nvPr>
        </p:nvSpPr>
        <p:spPr>
          <a:xfrm>
            <a:off x="166255" y="675409"/>
            <a:ext cx="11706989" cy="6005946"/>
          </a:xfrm>
        </p:spPr>
        <p:txBody>
          <a:bodyPr>
            <a:noAutofit/>
          </a:bodyPr>
          <a:lstStyle/>
          <a:p>
            <a:pPr marL="0" indent="0" algn="just" rtl="0" fontAlgn="base">
              <a:spcBef>
                <a:spcPts val="0"/>
              </a:spcBef>
              <a:spcAft>
                <a:spcPts val="0"/>
              </a:spcAft>
              <a:buNone/>
            </a:pPr>
            <a:r>
              <a:rPr lang="en-US" b="1" i="0" u="none" strike="noStrike" dirty="0">
                <a:effectLst/>
                <a:latin typeface="Times New Roman" panose="02020603050405020304" pitchFamily="18" charset="0"/>
              </a:rPr>
              <a:t>   DATA GENERATION USING BALANCING IMAGE</a:t>
            </a:r>
          </a:p>
          <a:p>
            <a:pPr marL="0" indent="0" algn="just" rtl="0" fontAlgn="base">
              <a:spcBef>
                <a:spcPts val="0"/>
              </a:spcBef>
              <a:spcAft>
                <a:spcPts val="0"/>
              </a:spcAft>
              <a:buNone/>
            </a:pPr>
            <a:endParaRPr lang="en-US" b="1" i="0" u="none" strike="noStrike" dirty="0">
              <a:effectLst/>
              <a:latin typeface="Times New Roman" panose="02020603050405020304" pitchFamily="18" charset="0"/>
            </a:endParaRPr>
          </a:p>
          <a:p>
            <a:pPr marL="742950" indent="-457200" algn="just">
              <a:spcBef>
                <a:spcPts val="0"/>
              </a:spcBef>
            </a:pPr>
            <a:r>
              <a:rPr lang="en-US" sz="2400" i="0" u="none" strike="noStrike" dirty="0">
                <a:effectLst/>
                <a:latin typeface="Times New Roman" panose="02020603050405020304" pitchFamily="18" charset="0"/>
              </a:rPr>
              <a:t>A police-department demand for the preparation of this rhetorical prediction model is that it forecast residential felony over area and </a:t>
            </a:r>
            <a:r>
              <a:rPr lang="en-US" sz="2400" i="0" u="none" strike="noStrike" dirty="0" err="1">
                <a:effectLst/>
                <a:latin typeface="Times New Roman" panose="02020603050405020304" pitchFamily="18" charset="0"/>
              </a:rPr>
              <a:t>time.consequently</a:t>
            </a:r>
            <a:r>
              <a:rPr lang="en-US" sz="2400" i="0" u="none" strike="noStrike" dirty="0">
                <a:effectLst/>
                <a:latin typeface="Times New Roman" panose="02020603050405020304" pitchFamily="18" charset="0"/>
              </a:rPr>
              <a:t>, the model classifies burglaries monthly across a regular dental image.</a:t>
            </a:r>
            <a:br>
              <a:rPr lang="en-US" sz="2400" dirty="0">
                <a:effectLst/>
              </a:rPr>
            </a:br>
            <a:endParaRPr lang="en-US" sz="2400" dirty="0">
              <a:effectLst/>
            </a:endParaRPr>
          </a:p>
          <a:p>
            <a:pPr marL="742950" indent="-457200" algn="just">
              <a:spcBef>
                <a:spcPts val="0"/>
              </a:spcBef>
            </a:pPr>
            <a:r>
              <a:rPr lang="en-US" sz="2400" i="0" u="none" strike="noStrike" dirty="0">
                <a:effectLst/>
                <a:latin typeface="Times New Roman" panose="02020603050405020304" pitchFamily="18" charset="0"/>
              </a:rPr>
              <a:t>The dental image divides town into checkerboard-like cells. At intervals every cell, information is aggregate into dental rhetorical prediction. </a:t>
            </a:r>
          </a:p>
          <a:p>
            <a:pPr marL="742950" indent="-457200" algn="just">
              <a:spcBef>
                <a:spcPts val="0"/>
              </a:spcBef>
            </a:pPr>
            <a:r>
              <a:rPr lang="en-US" sz="2400" i="0" u="none" strike="noStrike" dirty="0">
                <a:effectLst/>
                <a:latin typeface="Times New Roman" panose="02020603050405020304" pitchFamily="18" charset="0"/>
              </a:rPr>
              <a:t>Every cell is inhabited on a monthly basis. The space is  over one-quarter mile square. In each cases, every monthly information set may be a matrixes of  six antecedently mentioned classes. </a:t>
            </a:r>
          </a:p>
          <a:p>
            <a:pPr marL="742950" indent="-457200" algn="just">
              <a:spcBef>
                <a:spcPts val="0"/>
              </a:spcBef>
            </a:pPr>
            <a:r>
              <a:rPr lang="en-US" sz="2400" i="0" u="none" strike="noStrike" dirty="0">
                <a:effectLst/>
                <a:latin typeface="Times New Roman" panose="02020603050405020304" pitchFamily="18" charset="0"/>
              </a:rPr>
              <a:t>The finer resolutions permits the dental image to be interrogated with lot of elaborate eye toward the spatial data inherent within the dataset. Conversely, the lower resolution has the impact of generalizing the spatial data. It ought to be noted that although this will increase the score of dental image classification, the general accuracy of the prediction is diminished attributable to the ensuing misclassification of cold spots.</a:t>
            </a:r>
            <a:endParaRPr lang="en-US" sz="2400" dirty="0">
              <a:effectLst/>
            </a:endParaRPr>
          </a:p>
          <a:p>
            <a:pPr marL="0" indent="0">
              <a:buNone/>
            </a:pPr>
            <a:br>
              <a:rPr lang="en-US" sz="2400" dirty="0"/>
            </a:br>
            <a:endParaRPr lang="en-IN" sz="2400" dirty="0"/>
          </a:p>
        </p:txBody>
      </p:sp>
    </p:spTree>
    <p:extLst>
      <p:ext uri="{BB962C8B-B14F-4D97-AF65-F5344CB8AC3E}">
        <p14:creationId xmlns:p14="http://schemas.microsoft.com/office/powerpoint/2010/main" val="3737829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35E49-C7B4-C0A9-9115-CAEEF1DADC40}"/>
              </a:ext>
            </a:extLst>
          </p:cNvPr>
          <p:cNvSpPr>
            <a:spLocks noGrp="1"/>
          </p:cNvSpPr>
          <p:nvPr>
            <p:ph idx="1"/>
          </p:nvPr>
        </p:nvSpPr>
        <p:spPr>
          <a:xfrm>
            <a:off x="499621" y="311085"/>
            <a:ext cx="10850251" cy="6353666"/>
          </a:xfrm>
        </p:spPr>
        <p:txBody>
          <a:bodyPr>
            <a:noAutofit/>
          </a:bodyPr>
          <a:lstStyle/>
          <a:p>
            <a:pPr marL="0" indent="0" algn="just" rtl="0" fontAlgn="base">
              <a:spcBef>
                <a:spcPts val="0"/>
              </a:spcBef>
              <a:spcAft>
                <a:spcPts val="0"/>
              </a:spcAft>
              <a:buNone/>
            </a:pPr>
            <a:r>
              <a:rPr lang="en-US" b="1" i="0" u="none" strike="noStrike" dirty="0">
                <a:effectLst/>
                <a:latin typeface="Times New Roman" panose="02020603050405020304" pitchFamily="18" charset="0"/>
              </a:rPr>
              <a:t>FORENSIC FREQUENCY PREDICTION USING DENTAL IMAGE</a:t>
            </a:r>
          </a:p>
          <a:p>
            <a:pPr marL="0" indent="0" algn="just" rtl="0" fontAlgn="base">
              <a:spcBef>
                <a:spcPts val="0"/>
              </a:spcBef>
              <a:spcAft>
                <a:spcPts val="0"/>
              </a:spcAft>
              <a:buNone/>
            </a:pPr>
            <a:endParaRPr lang="en-US" sz="2400" b="1" dirty="0">
              <a:latin typeface="Times New Roman" panose="02020603050405020304" pitchFamily="18" charset="0"/>
            </a:endParaRPr>
          </a:p>
          <a:p>
            <a:pPr marL="628650" indent="-342900" algn="just">
              <a:spcBef>
                <a:spcPts val="0"/>
              </a:spcBef>
            </a:pPr>
            <a:r>
              <a:rPr lang="en-US" sz="2400" u="none" strike="noStrike" dirty="0">
                <a:effectLst/>
                <a:latin typeface="Times New Roman" panose="02020603050405020304" pitchFamily="18" charset="0"/>
              </a:rPr>
              <a:t>The only difference is the addition of the dental Forensic prediction attribute; an instance represents the frequency of Forensic in a particular month, for a particular FAG algorithm and postcode, and for a particular Forensic type.</a:t>
            </a:r>
          </a:p>
          <a:p>
            <a:pPr marL="571500" indent="-285750" algn="just">
              <a:spcBef>
                <a:spcPts val="0"/>
              </a:spcBef>
            </a:pPr>
            <a:r>
              <a:rPr lang="en-US" sz="2400" u="none" strike="noStrike" dirty="0">
                <a:effectLst/>
                <a:latin typeface="Times New Roman" panose="02020603050405020304" pitchFamily="18" charset="0"/>
              </a:rPr>
              <a:t> To find the correspondence between FAG algorithm and postcodes, the Office for National Statistics was used, which has a databases of  dental images listing postcodes and their different output areas, including FAG algorithm.</a:t>
            </a:r>
          </a:p>
          <a:p>
            <a:pPr marL="571500" indent="-285750" algn="just">
              <a:spcBef>
                <a:spcPts val="0"/>
              </a:spcBef>
            </a:pPr>
            <a:r>
              <a:rPr lang="en-US" sz="2400" u="none" strike="noStrike" dirty="0">
                <a:effectLst/>
                <a:latin typeface="Times New Roman" panose="02020603050405020304" pitchFamily="18" charset="0"/>
              </a:rPr>
              <a:t> This dental image database is from 2011. </a:t>
            </a:r>
          </a:p>
          <a:p>
            <a:pPr marL="571500" indent="-285750" algn="just">
              <a:spcBef>
                <a:spcPts val="0"/>
              </a:spcBef>
            </a:pPr>
            <a:r>
              <a:rPr lang="en-US" sz="2400" u="none" strike="noStrike" dirty="0">
                <a:effectLst/>
                <a:latin typeface="Times New Roman" panose="02020603050405020304" pitchFamily="18" charset="0"/>
              </a:rPr>
              <a:t>The lower number of data objects in this dataset compared with the FAG algorithm is due to the information on the equivalence between the CLAHE and FAG algorithm.</a:t>
            </a:r>
          </a:p>
          <a:p>
            <a:pPr marL="571500" indent="-285750" algn="just">
              <a:spcBef>
                <a:spcPts val="0"/>
              </a:spcBef>
            </a:pPr>
            <a:r>
              <a:rPr lang="en-US" sz="2400" u="none" strike="noStrike" dirty="0">
                <a:effectLst/>
                <a:latin typeface="Times New Roman" panose="02020603050405020304" pitchFamily="18" charset="0"/>
              </a:rPr>
              <a:t> Generally, postcodes areas cover several FAG algorithms, thus capturing information at a different geographical level which could potentially improve predictions.</a:t>
            </a:r>
          </a:p>
          <a:p>
            <a:pPr marL="571500" indent="-285750" algn="just">
              <a:spcBef>
                <a:spcPts val="0"/>
              </a:spcBef>
            </a:pPr>
            <a:r>
              <a:rPr lang="en-US" sz="2400" u="none" strike="noStrike" dirty="0">
                <a:effectLst/>
                <a:latin typeface="Times New Roman" panose="02020603050405020304" pitchFamily="18" charset="0"/>
              </a:rPr>
              <a:t> In terms of the performance of the algorithm CLAHE and FAG algorithm have medium correlation coefficients, while the M5P algorithm has a strong correlation coefficient between the values predicted by the model and the real values.</a:t>
            </a:r>
            <a:endParaRPr lang="en-US" sz="2400" dirty="0">
              <a:effectLst/>
            </a:endParaRPr>
          </a:p>
          <a:p>
            <a:pPr marL="0" indent="0">
              <a:buNone/>
            </a:pPr>
            <a:br>
              <a:rPr lang="en-US" sz="2400" dirty="0"/>
            </a:br>
            <a:endParaRPr lang="en-IN" sz="2400" dirty="0"/>
          </a:p>
        </p:txBody>
      </p:sp>
    </p:spTree>
    <p:extLst>
      <p:ext uri="{BB962C8B-B14F-4D97-AF65-F5344CB8AC3E}">
        <p14:creationId xmlns:p14="http://schemas.microsoft.com/office/powerpoint/2010/main" val="2624842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CA900-610E-2A52-9BE2-FEB2D1130696}"/>
              </a:ext>
            </a:extLst>
          </p:cNvPr>
          <p:cNvSpPr>
            <a:spLocks noGrp="1"/>
          </p:cNvSpPr>
          <p:nvPr>
            <p:ph idx="1"/>
          </p:nvPr>
        </p:nvSpPr>
        <p:spPr>
          <a:xfrm>
            <a:off x="367646" y="292231"/>
            <a:ext cx="10888934" cy="6054781"/>
          </a:xfrm>
        </p:spPr>
        <p:txBody>
          <a:bodyPr>
            <a:normAutofit lnSpcReduction="10000"/>
          </a:bodyPr>
          <a:lstStyle/>
          <a:p>
            <a:pPr marL="171450" indent="0" algn="just">
              <a:spcBef>
                <a:spcPts val="0"/>
              </a:spcBef>
              <a:buNone/>
            </a:pPr>
            <a:r>
              <a:rPr lang="en-IN" sz="2400" b="1" i="0" u="none" strike="noStrike" dirty="0">
                <a:effectLst/>
                <a:latin typeface="Times New Roman" panose="02020603050405020304" pitchFamily="18" charset="0"/>
              </a:rPr>
              <a:t> </a:t>
            </a:r>
            <a:r>
              <a:rPr lang="en-IN" b="1" i="0" u="none" strike="noStrike" dirty="0">
                <a:effectLst/>
                <a:latin typeface="Times New Roman" panose="02020603050405020304" pitchFamily="18" charset="0"/>
              </a:rPr>
              <a:t>LATENT PART LOCALIZATION</a:t>
            </a:r>
          </a:p>
          <a:p>
            <a:pPr marL="285750" indent="0" algn="just" rtl="0">
              <a:spcBef>
                <a:spcPts val="0"/>
              </a:spcBef>
              <a:spcAft>
                <a:spcPts val="0"/>
              </a:spcAft>
              <a:buNone/>
            </a:pPr>
            <a:endParaRPr lang="en-US" sz="2400" b="1" i="0" u="none" strike="noStrike" dirty="0">
              <a:effectLst/>
              <a:latin typeface="Times New Roman" panose="02020603050405020304" pitchFamily="18" charset="0"/>
              <a:cs typeface="Times New Roman" panose="02020603050405020304" pitchFamily="18" charset="0"/>
            </a:endParaRPr>
          </a:p>
          <a:p>
            <a:pPr marL="514350" algn="just" rtl="0">
              <a:spcBef>
                <a:spcPts val="0"/>
              </a:spcBef>
              <a:spcAft>
                <a:spcPts val="0"/>
              </a:spcAft>
            </a:pPr>
            <a:r>
              <a:rPr lang="en-US" sz="2400" i="0" u="none" strike="noStrike" dirty="0">
                <a:effectLst/>
                <a:latin typeface="Times New Roman" panose="02020603050405020304" pitchFamily="18" charset="0"/>
                <a:cs typeface="Times New Roman" panose="02020603050405020304" pitchFamily="18" charset="0"/>
              </a:rPr>
              <a:t>Dental image rhetorical prediction elements square measure vital personally rhetorical. The explored rigid body elements to develop strong options.</a:t>
            </a:r>
          </a:p>
          <a:p>
            <a:pPr marL="514350" algn="just" rtl="0">
              <a:spcBef>
                <a:spcPts val="0"/>
              </a:spcBef>
              <a:spcAft>
                <a:spcPts val="0"/>
              </a:spcAft>
            </a:pPr>
            <a:r>
              <a:rPr lang="en-US" sz="2400" i="0" u="none" strike="noStrike" dirty="0">
                <a:effectLst/>
                <a:latin typeface="Times New Roman" panose="02020603050405020304" pitchFamily="18" charset="0"/>
                <a:cs typeface="Times New Roman" panose="02020603050405020304" pitchFamily="18" charset="0"/>
              </a:rPr>
              <a:t> However, because of the dissatisfactory pedestrian detection algorithms and huge dental variations, the tactics of exploitation rigid body elements for native feature learning isn't the best answer. once exploitation rigid body elements, the highest half consists of enormous quantity of background. </a:t>
            </a:r>
          </a:p>
          <a:p>
            <a:pPr marL="514350" algn="just" rtl="0">
              <a:spcBef>
                <a:spcPts val="0"/>
              </a:spcBef>
              <a:spcAft>
                <a:spcPts val="0"/>
              </a:spcAft>
            </a:pPr>
            <a:r>
              <a:rPr lang="en-US" sz="2400" i="0" u="none" strike="noStrike" dirty="0">
                <a:effectLst/>
                <a:latin typeface="Times New Roman" panose="02020603050405020304" pitchFamily="18" charset="0"/>
                <a:cs typeface="Times New Roman" panose="02020603050405020304" pitchFamily="18" charset="0"/>
              </a:rPr>
              <a:t>This motivates United States to be told and localize the pedestrian elements mechanically. we have a tendency to integrate CLAHE and FAG formula because the half localization internet in our projected model.</a:t>
            </a:r>
          </a:p>
          <a:p>
            <a:pPr marL="514350" algn="just" rtl="0">
              <a:spcBef>
                <a:spcPts val="0"/>
              </a:spcBef>
              <a:spcAft>
                <a:spcPts val="0"/>
              </a:spcAft>
            </a:pPr>
            <a:r>
              <a:rPr lang="en-US" sz="2400" i="0" u="none" strike="noStrike" dirty="0">
                <a:effectLst/>
                <a:latin typeface="Times New Roman" panose="02020603050405020304" pitchFamily="18" charset="0"/>
                <a:cs typeface="Times New Roman" panose="02020603050405020304" pitchFamily="18" charset="0"/>
              </a:rPr>
              <a:t> The initial CLAHE is projected to expressly learn the image transformations parameters, like translation and scale. it's two main advantages: (1) it's absolutely differentiable </a:t>
            </a:r>
            <a:r>
              <a:rPr lang="en-US" sz="2400" i="0" u="none" strike="noStrike" dirty="0" err="1">
                <a:effectLst/>
                <a:latin typeface="Times New Roman" panose="02020603050405020304" pitchFamily="18" charset="0"/>
                <a:cs typeface="Times New Roman" panose="02020603050405020304" pitchFamily="18" charset="0"/>
              </a:rPr>
              <a:t>will|and</a:t>
            </a:r>
            <a:r>
              <a:rPr lang="en-US" sz="2400" i="0" u="none" strike="noStrike" dirty="0">
                <a:effectLst/>
                <a:latin typeface="Times New Roman" panose="02020603050405020304" pitchFamily="18" charset="0"/>
                <a:cs typeface="Times New Roman" panose="02020603050405020304" pitchFamily="18" charset="0"/>
              </a:rPr>
              <a:t> </a:t>
            </a:r>
            <a:r>
              <a:rPr lang="en-US" sz="2400" i="0" u="none" strike="noStrike" dirty="0" err="1">
                <a:effectLst/>
                <a:latin typeface="Times New Roman" panose="02020603050405020304" pitchFamily="18" charset="0"/>
                <a:cs typeface="Times New Roman" panose="02020603050405020304" pitchFamily="18" charset="0"/>
              </a:rPr>
              <a:t>may|and</a:t>
            </a:r>
            <a:r>
              <a:rPr lang="en-US" sz="2400" i="0" u="none" strike="noStrike" dirty="0">
                <a:effectLst/>
                <a:latin typeface="Times New Roman" panose="02020603050405020304" pitchFamily="18" charset="0"/>
                <a:cs typeface="Times New Roman" panose="02020603050405020304" pitchFamily="18" charset="0"/>
              </a:rPr>
              <a:t> might} be simply integrated into existing deep learning frameworks (2) it can learn to translate, scale and crop or warp a noteworthy regions while not to express region annotation. </a:t>
            </a:r>
          </a:p>
          <a:p>
            <a:pPr marL="514350" algn="just" rtl="0">
              <a:spcBef>
                <a:spcPts val="0"/>
              </a:spcBef>
              <a:spcAft>
                <a:spcPts val="0"/>
              </a:spcAft>
            </a:pPr>
            <a:r>
              <a:rPr lang="en-US" sz="2400" i="0" u="none" strike="noStrike" dirty="0">
                <a:effectLst/>
                <a:latin typeface="Times New Roman" panose="02020603050405020304" pitchFamily="18" charset="0"/>
                <a:cs typeface="Times New Roman" panose="02020603050405020304" pitchFamily="18" charset="0"/>
              </a:rPr>
              <a:t>These facts create it terribly appropriate for pedestrian elements localization.</a:t>
            </a:r>
            <a:endParaRPr lang="en-US" sz="2400" dirty="0">
              <a:effectLst/>
              <a:latin typeface="Times New Roman" panose="02020603050405020304" pitchFamily="18" charset="0"/>
              <a:cs typeface="Times New Roman" panose="02020603050405020304" pitchFamily="18" charset="0"/>
            </a:endParaRPr>
          </a:p>
          <a:p>
            <a:pPr marL="0" indent="0">
              <a:buNone/>
            </a:pPr>
            <a:br>
              <a:rPr lang="en-US" dirty="0"/>
            </a:br>
            <a:endParaRPr lang="en-IN" dirty="0"/>
          </a:p>
        </p:txBody>
      </p:sp>
    </p:spTree>
    <p:extLst>
      <p:ext uri="{BB962C8B-B14F-4D97-AF65-F5344CB8AC3E}">
        <p14:creationId xmlns:p14="http://schemas.microsoft.com/office/powerpoint/2010/main" val="3701218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522C1D-FA21-2C90-0AF9-D45EC8014EAB}"/>
              </a:ext>
            </a:extLst>
          </p:cNvPr>
          <p:cNvSpPr>
            <a:spLocks noGrp="1"/>
          </p:cNvSpPr>
          <p:nvPr>
            <p:ph idx="1"/>
          </p:nvPr>
        </p:nvSpPr>
        <p:spPr>
          <a:xfrm>
            <a:off x="292231" y="254524"/>
            <a:ext cx="11353231" cy="5993876"/>
          </a:xfrm>
        </p:spPr>
        <p:txBody>
          <a:bodyPr>
            <a:normAutofit fontScale="55000" lnSpcReduction="20000"/>
          </a:bodyPr>
          <a:lstStyle/>
          <a:p>
            <a:pPr marL="0" indent="0" algn="just" rtl="0" fontAlgn="base">
              <a:spcBef>
                <a:spcPts val="0"/>
              </a:spcBef>
              <a:spcAft>
                <a:spcPts val="1000"/>
              </a:spcAft>
              <a:buNone/>
            </a:pPr>
            <a:r>
              <a:rPr lang="en-US" sz="5100" b="1" i="0" u="none" strike="noStrike" dirty="0">
                <a:effectLst/>
                <a:latin typeface="Times New Roman" panose="02020603050405020304" pitchFamily="18" charset="0"/>
              </a:rPr>
              <a:t>FORENSIC FREQUENCY PREDICTION BY CLAHE</a:t>
            </a:r>
          </a:p>
          <a:p>
            <a:pPr marL="0" indent="0" algn="just" rtl="0" fontAlgn="base">
              <a:spcBef>
                <a:spcPts val="0"/>
              </a:spcBef>
              <a:spcAft>
                <a:spcPts val="1000"/>
              </a:spcAft>
              <a:buNone/>
            </a:pPr>
            <a:endParaRPr lang="en-US" sz="4400" b="1" i="0" u="none" strike="noStrike" dirty="0">
              <a:effectLst/>
              <a:latin typeface="Times New Roman" panose="02020603050405020304" pitchFamily="18" charset="0"/>
            </a:endParaRPr>
          </a:p>
          <a:p>
            <a:pPr marL="285750" algn="just" rtl="0">
              <a:spcBef>
                <a:spcPts val="0"/>
              </a:spcBef>
              <a:spcAft>
                <a:spcPts val="1000"/>
              </a:spcAft>
            </a:pPr>
            <a:r>
              <a:rPr lang="en-US" sz="4400" i="0" u="none" strike="noStrike" dirty="0">
                <a:effectLst/>
                <a:latin typeface="Times New Roman" panose="02020603050405020304" pitchFamily="18" charset="0"/>
              </a:rPr>
              <a:t>This experiment investigates the prediction of Forensic frequency by CLAHE algorithm. The procedure used in the experiment, outlining the four middle steps of the CLAHE algorithm methodology data understanding, data preparation, modeling and evaluation.</a:t>
            </a:r>
          </a:p>
          <a:p>
            <a:pPr marL="285750" algn="just" rtl="0">
              <a:spcBef>
                <a:spcPts val="0"/>
              </a:spcBef>
              <a:spcAft>
                <a:spcPts val="1000"/>
              </a:spcAft>
            </a:pPr>
            <a:r>
              <a:rPr lang="en-US" sz="4400" i="0" u="none" strike="noStrike" dirty="0">
                <a:effectLst/>
                <a:latin typeface="Times New Roman" panose="02020603050405020304" pitchFamily="18" charset="0"/>
              </a:rPr>
              <a:t> The first stage in the Data Understanding step was to integrate the data into one dataset by aggregating the monthly files.</a:t>
            </a:r>
          </a:p>
          <a:p>
            <a:pPr marL="285750" algn="just" rtl="0">
              <a:spcBef>
                <a:spcPts val="0"/>
              </a:spcBef>
              <a:spcAft>
                <a:spcPts val="1000"/>
              </a:spcAft>
            </a:pPr>
            <a:r>
              <a:rPr lang="en-US" sz="4400" i="0" u="none" strike="noStrike" dirty="0">
                <a:effectLst/>
                <a:latin typeface="Times New Roman" panose="02020603050405020304" pitchFamily="18" charset="0"/>
              </a:rPr>
              <a:t> All experiments started with this dataset. </a:t>
            </a:r>
          </a:p>
          <a:p>
            <a:pPr marL="285750" algn="just" rtl="0">
              <a:spcBef>
                <a:spcPts val="0"/>
              </a:spcBef>
              <a:spcAft>
                <a:spcPts val="1000"/>
              </a:spcAft>
            </a:pPr>
            <a:r>
              <a:rPr lang="en-US" sz="4400" i="0" u="none" strike="noStrike" dirty="0">
                <a:effectLst/>
                <a:latin typeface="Times New Roman" panose="02020603050405020304" pitchFamily="18" charset="0"/>
              </a:rPr>
              <a:t>For the purpose of this experiment, the frequency per month, per CLAHE algorithm, for each Forensic type was computed an instance represents the frequency of Forensic for a particular month, CLAHE algorithm and Forensic type.</a:t>
            </a:r>
          </a:p>
          <a:p>
            <a:pPr marL="285750" algn="just" rtl="0">
              <a:spcBef>
                <a:spcPts val="0"/>
              </a:spcBef>
              <a:spcAft>
                <a:spcPts val="1000"/>
              </a:spcAft>
            </a:pPr>
            <a:r>
              <a:rPr lang="en-US" sz="4400" i="0" u="none" strike="noStrike" dirty="0">
                <a:effectLst/>
                <a:latin typeface="Times New Roman" panose="02020603050405020304" pitchFamily="18" charset="0"/>
              </a:rPr>
              <a:t> This aggregation meant that some of the attributes that were relevant for individual Forensic became irrelevant for a monthly record of Forensic frequency. </a:t>
            </a:r>
          </a:p>
          <a:p>
            <a:pPr marL="285750" algn="just" rtl="0">
              <a:spcBef>
                <a:spcPts val="0"/>
              </a:spcBef>
              <a:spcAft>
                <a:spcPts val="1000"/>
              </a:spcAft>
            </a:pPr>
            <a:r>
              <a:rPr lang="en-US" sz="4400" i="0" u="none" strike="noStrike" dirty="0">
                <a:effectLst/>
                <a:latin typeface="Times New Roman" panose="02020603050405020304" pitchFamily="18" charset="0"/>
              </a:rPr>
              <a:t>These attributes are: Forensic ID, age, father name, Forensic details in the dataset for this experiment included attributes: The instances from the original dataset that had missing values for CLAHE algorithm name were excluded.</a:t>
            </a:r>
            <a:endParaRPr lang="en-US" sz="4400" dirty="0">
              <a:effectLst/>
            </a:endParaRPr>
          </a:p>
          <a:p>
            <a:pPr marL="0" indent="0">
              <a:buNone/>
            </a:pPr>
            <a:br>
              <a:rPr lang="en-US" sz="3300" dirty="0"/>
            </a:br>
            <a:endParaRPr lang="en-IN" sz="3300" dirty="0"/>
          </a:p>
        </p:txBody>
      </p:sp>
    </p:spTree>
    <p:extLst>
      <p:ext uri="{BB962C8B-B14F-4D97-AF65-F5344CB8AC3E}">
        <p14:creationId xmlns:p14="http://schemas.microsoft.com/office/powerpoint/2010/main" val="64418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181EE-67FA-42D5-7DC3-4DFCEB0A0F61}"/>
              </a:ext>
            </a:extLst>
          </p:cNvPr>
          <p:cNvSpPr>
            <a:spLocks noGrp="1"/>
          </p:cNvSpPr>
          <p:nvPr>
            <p:ph idx="1"/>
          </p:nvPr>
        </p:nvSpPr>
        <p:spPr>
          <a:xfrm>
            <a:off x="235670" y="320512"/>
            <a:ext cx="11660957" cy="6052008"/>
          </a:xfrm>
        </p:spPr>
        <p:txBody>
          <a:bodyPr>
            <a:noAutofit/>
          </a:bodyPr>
          <a:lstStyle/>
          <a:p>
            <a:pPr marL="0" indent="0" algn="just" rtl="0" fontAlgn="base">
              <a:spcBef>
                <a:spcPts val="0"/>
              </a:spcBef>
              <a:spcAft>
                <a:spcPts val="1000"/>
              </a:spcAft>
              <a:buNone/>
            </a:pPr>
            <a:r>
              <a:rPr lang="en-US" b="1" i="0" u="none" strike="noStrike" dirty="0">
                <a:effectLst/>
                <a:latin typeface="Times New Roman" panose="02020603050405020304" pitchFamily="18" charset="0"/>
                <a:cs typeface="Times New Roman" panose="02020603050405020304" pitchFamily="18" charset="0"/>
              </a:rPr>
              <a:t>CONTRASTIVE LEARNING WITH DSA</a:t>
            </a:r>
          </a:p>
          <a:p>
            <a:pPr algn="just" rtl="0">
              <a:spcBef>
                <a:spcPts val="0"/>
              </a:spcBef>
              <a:spcAft>
                <a:spcPts val="1000"/>
              </a:spcAft>
            </a:pPr>
            <a:r>
              <a:rPr lang="en-US" sz="2000" i="0" u="none" strike="noStrike" dirty="0">
                <a:effectLst/>
                <a:latin typeface="Times New Roman" panose="02020603050405020304" pitchFamily="18" charset="0"/>
                <a:cs typeface="Times New Roman" panose="02020603050405020304" pitchFamily="18" charset="0"/>
              </a:rPr>
              <a:t>We hand out </a:t>
            </a:r>
            <a:r>
              <a:rPr lang="en-US" sz="2000" i="0" u="none" strike="noStrike" dirty="0" err="1">
                <a:effectLst/>
                <a:latin typeface="Times New Roman" panose="02020603050405020304" pitchFamily="18" charset="0"/>
                <a:cs typeface="Times New Roman" panose="02020603050405020304" pitchFamily="18" charset="0"/>
              </a:rPr>
              <a:t>FoID</a:t>
            </a:r>
            <a:r>
              <a:rPr lang="en-US" sz="2000" i="0" u="none" strike="noStrike" dirty="0">
                <a:effectLst/>
                <a:latin typeface="Times New Roman" panose="02020603050405020304" pitchFamily="18" charset="0"/>
                <a:cs typeface="Times New Roman" panose="02020603050405020304" pitchFamily="18" charset="0"/>
              </a:rPr>
              <a:t> by 1st describing its building elements then the multi-task learning strategy. </a:t>
            </a:r>
            <a:r>
              <a:rPr lang="en-US" sz="2000" i="0" u="none" strike="noStrike" dirty="0" err="1">
                <a:effectLst/>
                <a:latin typeface="Times New Roman" panose="02020603050405020304" pitchFamily="18" charset="0"/>
                <a:cs typeface="Times New Roman" panose="02020603050405020304" pitchFamily="18" charset="0"/>
              </a:rPr>
              <a:t>FoID</a:t>
            </a:r>
            <a:r>
              <a:rPr lang="en-US" sz="2000" i="0" u="none" strike="noStrike" dirty="0">
                <a:effectLst/>
                <a:latin typeface="Times New Roman" panose="02020603050405020304" pitchFamily="18" charset="0"/>
                <a:cs typeface="Times New Roman" panose="02020603050405020304" pitchFamily="18" charset="0"/>
              </a:rPr>
              <a:t> maps every scan instances into associate degree embedding. Given a question  instance, we tend to calculate the similarities between the question and every one the gallery instances within the embedding house and come back the graded retrieval list. to attain effective illustration learning, augmentations that cowl the potential anatomical variations as in clinics is that the key. The planned DSA consists four kinds of parameters impressed by rhetorical observations, and is severally applied to every attention patch on the fly.  </a:t>
            </a:r>
            <a:endParaRPr lang="en-US" sz="200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2000" i="0" u="none" strike="noStrike" dirty="0">
                <a:effectLst/>
                <a:latin typeface="Times New Roman" panose="02020603050405020304" pitchFamily="18" charset="0"/>
                <a:cs typeface="Times New Roman" panose="02020603050405020304" pitchFamily="18" charset="0"/>
              </a:rPr>
              <a:t>(</a:t>
            </a:r>
            <a:r>
              <a:rPr lang="en-US" sz="2000" i="0" u="none" strike="noStrike" dirty="0" err="1">
                <a:effectLst/>
                <a:latin typeface="Times New Roman" panose="02020603050405020304" pitchFamily="18" charset="0"/>
                <a:cs typeface="Times New Roman" panose="02020603050405020304" pitchFamily="18" charset="0"/>
              </a:rPr>
              <a:t>i</a:t>
            </a:r>
            <a:r>
              <a:rPr lang="en-US" sz="2000" i="0" u="none" strike="noStrike" dirty="0">
                <a:effectLst/>
                <a:latin typeface="Times New Roman" panose="02020603050405020304" pitchFamily="18" charset="0"/>
                <a:cs typeface="Times New Roman" panose="02020603050405020304" pitchFamily="18" charset="0"/>
              </a:rPr>
              <a:t>) Random tooth reduction that aims to simulate tooth loss caused by injury or inventions  </a:t>
            </a:r>
            <a:endParaRPr lang="en-US" sz="200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2000" i="0" u="none" strike="noStrike" dirty="0">
                <a:effectLst/>
                <a:latin typeface="Times New Roman" panose="02020603050405020304" pitchFamily="18" charset="0"/>
                <a:cs typeface="Times New Roman" panose="02020603050405020304" pitchFamily="18" charset="0"/>
              </a:rPr>
              <a:t>(ii) Random physical object addition that adds patches of versatile shapes to crown or tooth regions such augmentation aims to simulate the common artifacts of dental filling, implant, and brace.</a:t>
            </a:r>
            <a:endParaRPr lang="en-US" sz="200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2000" i="0" u="none" strike="noStrike" dirty="0">
                <a:effectLst/>
                <a:latin typeface="Times New Roman" panose="02020603050405020304" pitchFamily="18" charset="0"/>
                <a:cs typeface="Times New Roman" panose="02020603050405020304" pitchFamily="18" charset="0"/>
              </a:rPr>
              <a:t>(iii) Random rigid patch rework at intervals a spread of angles and displacements. The augmentation not solely enforces read comparison as within the commonplace instance discrimination learning, however conjointly simulates world teeth arrangement changes, since the rework is performed for patches severally.</a:t>
            </a:r>
            <a:endParaRPr lang="en-US" sz="2000" dirty="0">
              <a:effectLst/>
              <a:latin typeface="Times New Roman" panose="02020603050405020304" pitchFamily="18" charset="0"/>
              <a:cs typeface="Times New Roman" panose="02020603050405020304" pitchFamily="18" charset="0"/>
            </a:endParaRPr>
          </a:p>
          <a:p>
            <a:pPr algn="just" rtl="0">
              <a:spcBef>
                <a:spcPts val="0"/>
              </a:spcBef>
              <a:spcAft>
                <a:spcPts val="1000"/>
              </a:spcAft>
            </a:pPr>
            <a:r>
              <a:rPr lang="en-US" sz="2000" i="0" u="none" strike="noStrike" dirty="0">
                <a:effectLst/>
                <a:latin typeface="Times New Roman" panose="02020603050405020304" pitchFamily="18" charset="0"/>
                <a:cs typeface="Times New Roman" panose="02020603050405020304" pitchFamily="18" charset="0"/>
              </a:rPr>
              <a:t>(iv) Random </a:t>
            </a:r>
            <a:r>
              <a:rPr lang="en-US" sz="2000" i="0" u="none" strike="noStrike" dirty="0" err="1">
                <a:effectLst/>
                <a:latin typeface="Times New Roman" panose="02020603050405020304" pitchFamily="18" charset="0"/>
                <a:cs typeface="Times New Roman" panose="02020603050405020304" pitchFamily="18" charset="0"/>
              </a:rPr>
              <a:t>colour</a:t>
            </a:r>
            <a:r>
              <a:rPr lang="en-US" sz="2000" i="0" u="none" strike="noStrike" dirty="0">
                <a:effectLst/>
                <a:latin typeface="Times New Roman" panose="02020603050405020304" pitchFamily="18" charset="0"/>
                <a:cs typeface="Times New Roman" panose="02020603050405020304" pitchFamily="18" charset="0"/>
              </a:rPr>
              <a:t> disturbance of distinction shifting and Gaussian noise at intervals designed ranges for simulating totally different scanning setup and machine noises. additional details concerning the implementation of DSA area unit enclosed.</a:t>
            </a:r>
            <a:endParaRPr lang="en-US" sz="2000" dirty="0">
              <a:effectLst/>
              <a:latin typeface="Times New Roman" panose="02020603050405020304" pitchFamily="18" charset="0"/>
              <a:cs typeface="Times New Roman" panose="02020603050405020304" pitchFamily="18" charset="0"/>
            </a:endParaRPr>
          </a:p>
          <a:p>
            <a:pPr marL="0" indent="0">
              <a:buNone/>
            </a:pP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6045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5D0F6D-8407-AB4C-7F21-ACB89807DF5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50818" y="892159"/>
            <a:ext cx="9033319" cy="5081118"/>
          </a:xfrm>
          <a:prstGeom prst="rect">
            <a:avLst/>
          </a:prstGeom>
          <a:noFill/>
          <a:ln>
            <a:noFill/>
          </a:ln>
        </p:spPr>
      </p:pic>
    </p:spTree>
    <p:extLst>
      <p:ext uri="{BB962C8B-B14F-4D97-AF65-F5344CB8AC3E}">
        <p14:creationId xmlns:p14="http://schemas.microsoft.com/office/powerpoint/2010/main" val="3202310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9CA201-D846-B1D7-638D-C255989B60AB}"/>
              </a:ext>
            </a:extLst>
          </p:cNvPr>
          <p:cNvPicPr>
            <a:picLocks noChangeAspect="1"/>
          </p:cNvPicPr>
          <p:nvPr/>
        </p:nvPicPr>
        <p:blipFill>
          <a:blip r:embed="rId2"/>
          <a:stretch>
            <a:fillRect/>
          </a:stretch>
        </p:blipFill>
        <p:spPr>
          <a:xfrm>
            <a:off x="1742120" y="987137"/>
            <a:ext cx="8642424" cy="4861244"/>
          </a:xfrm>
          <a:prstGeom prst="rect">
            <a:avLst/>
          </a:prstGeom>
        </p:spPr>
      </p:pic>
    </p:spTree>
    <p:extLst>
      <p:ext uri="{BB962C8B-B14F-4D97-AF65-F5344CB8AC3E}">
        <p14:creationId xmlns:p14="http://schemas.microsoft.com/office/powerpoint/2010/main" val="2817616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CCE0A39-3925-6392-53DE-719E69A32F27}"/>
              </a:ext>
            </a:extLst>
          </p:cNvPr>
          <p:cNvPicPr>
            <a:picLocks noGrp="1" noChangeAspect="1"/>
          </p:cNvPicPr>
          <p:nvPr>
            <p:ph idx="1"/>
          </p:nvPr>
        </p:nvPicPr>
        <p:blipFill>
          <a:blip r:embed="rId2"/>
          <a:stretch>
            <a:fillRect/>
          </a:stretch>
        </p:blipFill>
        <p:spPr>
          <a:xfrm>
            <a:off x="1641508" y="789709"/>
            <a:ext cx="9060103" cy="5096308"/>
          </a:xfrm>
          <a:prstGeom prst="rect">
            <a:avLst/>
          </a:prstGeom>
        </p:spPr>
      </p:pic>
    </p:spTree>
    <p:extLst>
      <p:ext uri="{BB962C8B-B14F-4D97-AF65-F5344CB8AC3E}">
        <p14:creationId xmlns:p14="http://schemas.microsoft.com/office/powerpoint/2010/main" val="3819318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8D3AA-526D-E343-8E20-BB0DEAE76B79}"/>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CONCLUSION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B7D84F-87EA-A81D-43C2-770E7AAD8DAD}"/>
              </a:ext>
            </a:extLst>
          </p:cNvPr>
          <p:cNvSpPr>
            <a:spLocks noGrp="1"/>
          </p:cNvSpPr>
          <p:nvPr>
            <p:ph idx="1"/>
          </p:nvPr>
        </p:nvSpPr>
        <p:spPr>
          <a:xfrm>
            <a:off x="838200" y="1470212"/>
            <a:ext cx="10515600" cy="4903694"/>
          </a:xfrm>
        </p:spPr>
        <p:txBody>
          <a:bodyPr>
            <a:normAutofit lnSpcReduction="10000"/>
          </a:bodyPr>
          <a:lstStyle/>
          <a:p>
            <a:r>
              <a:rPr lang="en-US" dirty="0">
                <a:latin typeface="Times New Roman" panose="02020603050405020304" pitchFamily="18" charset="0"/>
                <a:cs typeface="Times New Roman" panose="02020603050405020304" pitchFamily="18" charset="0"/>
              </a:rPr>
              <a:t>Now a day’s rhetorical dental image dataset prediction. rhetorical dental is an element of human activities and desires to be managed.</a:t>
            </a:r>
          </a:p>
          <a:p>
            <a:r>
              <a:rPr lang="en-US" dirty="0">
                <a:latin typeface="Times New Roman" panose="02020603050405020304" pitchFamily="18" charset="0"/>
                <a:cs typeface="Times New Roman" panose="02020603050405020304" pitchFamily="18" charset="0"/>
              </a:rPr>
              <a:t>No human society has ever been entirely freed from deviants and it's unlikely that society can ever be.</a:t>
            </a:r>
          </a:p>
          <a:p>
            <a:r>
              <a:rPr lang="en-US" dirty="0">
                <a:latin typeface="Times New Roman" panose="02020603050405020304" pitchFamily="18" charset="0"/>
                <a:cs typeface="Times New Roman" panose="02020603050405020304" pitchFamily="18" charset="0"/>
              </a:rPr>
              <a:t> This application is created to figure proficiently and viably. It leads to customary and auspicious activity against wrong doing careful. </a:t>
            </a:r>
          </a:p>
          <a:p>
            <a:r>
              <a:rPr lang="en-US" dirty="0">
                <a:latin typeface="Times New Roman" panose="02020603050405020304" pitchFamily="18" charset="0"/>
                <a:cs typeface="Times New Roman" panose="02020603050405020304" pitchFamily="18" charset="0"/>
              </a:rPr>
              <a:t>It tends to be seen that the image information set is nonheritable effortlessly and </a:t>
            </a:r>
            <a:r>
              <a:rPr lang="en-US" dirty="0" err="1">
                <a:latin typeface="Times New Roman" panose="02020603050405020304" pitchFamily="18" charset="0"/>
                <a:cs typeface="Times New Roman" panose="02020603050405020304" pitchFamily="18" charset="0"/>
              </a:rPr>
              <a:t>exactly.It</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By utilizing these application individuals who are apprehensive have enough time to go forensic dental image dataset for grievances about their own legitimate issues, or any sort of issues, here they can give their dissensions through forensic to enlist any kind of protests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2881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871CC-4BC8-48F2-A547-DE0334DB75AC}"/>
              </a:ext>
            </a:extLst>
          </p:cNvPr>
          <p:cNvSpPr>
            <a:spLocks noGrp="1"/>
          </p:cNvSpPr>
          <p:nvPr>
            <p:ph type="title"/>
          </p:nvPr>
        </p:nvSpPr>
        <p:spPr>
          <a:xfrm>
            <a:off x="562983" y="272519"/>
            <a:ext cx="7845911" cy="632916"/>
          </a:xfrm>
        </p:spPr>
        <p:txBody>
          <a:bodyPr>
            <a:normAutofit fontScale="90000"/>
          </a:bodyPr>
          <a:lstStyle/>
          <a:p>
            <a:r>
              <a:rPr lang="en-US" dirty="0">
                <a:latin typeface="Times New Roman" panose="02020603050405020304" pitchFamily="18" charset="0"/>
                <a:cs typeface="Times New Roman" panose="02020603050405020304" pitchFamily="18" charset="0"/>
              </a:rPr>
              <a:t>REFERENCES</a:t>
            </a:r>
            <a:r>
              <a:rPr lang="en-US" dirty="0"/>
              <a:t>:</a:t>
            </a:r>
            <a:endParaRPr lang="en-IN" dirty="0"/>
          </a:p>
        </p:txBody>
      </p:sp>
      <p:sp>
        <p:nvSpPr>
          <p:cNvPr id="3" name="Content Placeholder 2">
            <a:extLst>
              <a:ext uri="{FF2B5EF4-FFF2-40B4-BE49-F238E27FC236}">
                <a16:creationId xmlns:a16="http://schemas.microsoft.com/office/drawing/2014/main" id="{D0476E6F-9CEB-4DAE-A555-552CB39AB5EA}"/>
              </a:ext>
            </a:extLst>
          </p:cNvPr>
          <p:cNvSpPr>
            <a:spLocks noGrp="1"/>
          </p:cNvSpPr>
          <p:nvPr>
            <p:ph idx="1"/>
          </p:nvPr>
        </p:nvSpPr>
        <p:spPr>
          <a:xfrm>
            <a:off x="262759" y="905435"/>
            <a:ext cx="11392737" cy="5785834"/>
          </a:xfrm>
        </p:spPr>
        <p:txBody>
          <a:bodyPr>
            <a:normAutofit/>
          </a:bodyPr>
          <a:lstStyle/>
          <a:p>
            <a:pPr marL="0" indent="0" algn="just">
              <a:lnSpc>
                <a:spcPct val="150000"/>
              </a:lnSpc>
              <a:buNone/>
            </a:pPr>
            <a:r>
              <a:rPr lang="en-US" sz="2000" b="1">
                <a:effectLst/>
                <a:latin typeface="Times New Roman" panose="02020603050405020304" pitchFamily="18" charset="0"/>
                <a:ea typeface="Times New Roman" panose="02020603050405020304" pitchFamily="18" charset="0"/>
              </a:rPr>
              <a:t>[1]</a:t>
            </a:r>
            <a:r>
              <a:rPr lang="en-US" sz="2000">
                <a:effectLst/>
                <a:latin typeface="Times New Roman" panose="02020603050405020304" pitchFamily="18" charset="0"/>
                <a:ea typeface="Times New Roman" panose="02020603050405020304" pitchFamily="18" charset="0"/>
              </a:rPr>
              <a:t> Zhivuan   Zhang, Xin Zhong(2020), “3D Dental Biometrics Automatic Pose-invariant Dental Arch Extraction and Matching”</a:t>
            </a:r>
            <a:endParaRPr lang="en-IN" sz="200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2000">
                <a:effectLst/>
                <a:latin typeface="Times New Roman" panose="02020603050405020304" pitchFamily="18" charset="0"/>
                <a:ea typeface="Times New Roman" panose="02020603050405020304" pitchFamily="18" charset="0"/>
              </a:rPr>
              <a:t>[2] Jingxuan Bao, Mansu Kim, Qing Sun, Anderson T. Hara , Gerardo Maupome and Li Shenk(2020),” </a:t>
            </a:r>
            <a:r>
              <a:rPr lang="en-IN" sz="2000">
                <a:effectLst/>
                <a:latin typeface="Times New Roman" panose="02020603050405020304" pitchFamily="18" charset="0"/>
                <a:ea typeface="Times New Roman" panose="02020603050405020304" pitchFamily="18" charset="0"/>
              </a:rPr>
              <a:t>Estimating Hard-tissue Conditions from Dental Images via Machine Learning”</a:t>
            </a:r>
          </a:p>
          <a:p>
            <a:pPr marL="0" indent="0" algn="just">
              <a:lnSpc>
                <a:spcPct val="150000"/>
              </a:lnSpc>
              <a:buNone/>
            </a:pPr>
            <a:r>
              <a:rPr lang="en-IN" sz="2000">
                <a:effectLst/>
                <a:latin typeface="Times New Roman" panose="02020603050405020304" pitchFamily="18" charset="0"/>
                <a:ea typeface="Times New Roman" panose="02020603050405020304" pitchFamily="18" charset="0"/>
              </a:rPr>
              <a:t>[3]</a:t>
            </a:r>
            <a:r>
              <a:rPr lang="en-US" sz="2000">
                <a:effectLst/>
                <a:latin typeface="Times New Roman" panose="02020603050405020304" pitchFamily="18" charset="0"/>
                <a:ea typeface="Times New Roman" panose="02020603050405020304" pitchFamily="18" charset="0"/>
              </a:rPr>
              <a:t>Mohamed Heshem , Monis Luquman Mohamed, Ahmed E. Youssef(2020),” </a:t>
            </a:r>
            <a:r>
              <a:rPr lang="en-IN" sz="2000">
                <a:effectLst/>
                <a:latin typeface="Times New Roman" panose="02020603050405020304" pitchFamily="18" charset="0"/>
                <a:ea typeface="Times New Roman" panose="02020603050405020304" pitchFamily="18" charset="0"/>
              </a:rPr>
              <a:t>Improving the Efficiency of Dental Implantation Process Using Guided Local Search Models and Continuous Time Neural Networks With Robotic Assistance”</a:t>
            </a:r>
          </a:p>
          <a:p>
            <a:pPr marL="0" indent="0" algn="just">
              <a:lnSpc>
                <a:spcPct val="150000"/>
              </a:lnSpc>
              <a:buNone/>
            </a:pPr>
            <a:r>
              <a:rPr lang="en-IN" sz="2000">
                <a:effectLst/>
                <a:latin typeface="Times New Roman" panose="02020603050405020304" pitchFamily="18" charset="0"/>
                <a:ea typeface="Times New Roman" panose="02020603050405020304" pitchFamily="18" charset="0"/>
              </a:rPr>
              <a:t>[4] </a:t>
            </a:r>
            <a:r>
              <a:rPr lang="en-US" sz="2000">
                <a:effectLst/>
                <a:latin typeface="Times New Roman" panose="02020603050405020304" pitchFamily="18" charset="0"/>
                <a:ea typeface="Times New Roman" panose="02020603050405020304" pitchFamily="18" charset="0"/>
              </a:rPr>
              <a:t>S. Sivagami, P. Chitra, G. Sri Ram Kailash, and S.R. Muralidharan(2020),” </a:t>
            </a:r>
            <a:r>
              <a:rPr lang="en-IN" sz="2000">
                <a:effectLst/>
                <a:latin typeface="Times New Roman" panose="02020603050405020304" pitchFamily="18" charset="0"/>
                <a:ea typeface="Times New Roman" panose="02020603050405020304" pitchFamily="18" charset="0"/>
              </a:rPr>
              <a:t>UNet Architecture Based Dental Panoramic Image Segmentation”’</a:t>
            </a:r>
          </a:p>
          <a:p>
            <a:pPr marL="0" indent="0" algn="just">
              <a:lnSpc>
                <a:spcPct val="150000"/>
              </a:lnSpc>
              <a:buNone/>
            </a:pPr>
            <a:r>
              <a:rPr lang="en-IN" sz="2000">
                <a:effectLst/>
                <a:latin typeface="Times New Roman" panose="02020603050405020304" pitchFamily="18" charset="0"/>
                <a:ea typeface="Times New Roman" panose="02020603050405020304" pitchFamily="18" charset="0"/>
              </a:rPr>
              <a:t>[5] </a:t>
            </a:r>
            <a:r>
              <a:rPr lang="en-US" sz="2000">
                <a:effectLst/>
                <a:latin typeface="Times New Roman" panose="02020603050405020304" pitchFamily="18" charset="0"/>
                <a:ea typeface="Times New Roman" panose="02020603050405020304" pitchFamily="18" charset="0"/>
              </a:rPr>
              <a:t>Sindu Divakaran, K. Vasanth, Suja D, Swedha V(2021),” </a:t>
            </a:r>
            <a:r>
              <a:rPr lang="en-IN" sz="2000">
                <a:effectLst/>
                <a:latin typeface="Times New Roman" panose="02020603050405020304" pitchFamily="18" charset="0"/>
                <a:ea typeface="Times New Roman" panose="02020603050405020304" pitchFamily="18" charset="0"/>
              </a:rPr>
              <a:t>Classification of Digital Dental X-ray Images Using Machine Learning”</a:t>
            </a:r>
          </a:p>
        </p:txBody>
      </p:sp>
    </p:spTree>
    <p:extLst>
      <p:ext uri="{BB962C8B-B14F-4D97-AF65-F5344CB8AC3E}">
        <p14:creationId xmlns:p14="http://schemas.microsoft.com/office/powerpoint/2010/main" val="418199933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6D461E-87CC-799B-7B8D-4F17987C4EF0}"/>
              </a:ext>
            </a:extLst>
          </p:cNvPr>
          <p:cNvSpPr>
            <a:spLocks noGrp="1"/>
          </p:cNvSpPr>
          <p:nvPr>
            <p:ph idx="1"/>
          </p:nvPr>
        </p:nvSpPr>
        <p:spPr>
          <a:xfrm>
            <a:off x="838200" y="451945"/>
            <a:ext cx="10515600" cy="5725018"/>
          </a:xfrm>
        </p:spPr>
        <p:txBody>
          <a:bodyPr>
            <a:normAutofit/>
          </a:bodyPr>
          <a:lstStyle/>
          <a:p>
            <a:pPr marL="0" indent="0" algn="just">
              <a:lnSpc>
                <a:spcPct val="150000"/>
              </a:lnSpc>
              <a:buNone/>
            </a:pPr>
            <a:r>
              <a:rPr lang="en-IN" sz="2000" dirty="0">
                <a:effectLst/>
                <a:latin typeface="Times New Roman" panose="02020603050405020304" pitchFamily="18" charset="0"/>
                <a:ea typeface="Times New Roman" panose="02020603050405020304" pitchFamily="18" charset="0"/>
              </a:rPr>
              <a:t>[6] </a:t>
            </a:r>
            <a:r>
              <a:rPr lang="en-US" sz="2000" dirty="0">
                <a:effectLst/>
                <a:latin typeface="Times New Roman" panose="02020603050405020304" pitchFamily="18" charset="0"/>
                <a:ea typeface="Times New Roman" panose="02020603050405020304" pitchFamily="18" charset="0"/>
              </a:rPr>
              <a:t>Dhruv Verma , Dr </a:t>
            </a:r>
            <a:r>
              <a:rPr lang="en-US" sz="2000" dirty="0" err="1">
                <a:effectLst/>
                <a:latin typeface="Times New Roman" panose="02020603050405020304" pitchFamily="18" charset="0"/>
                <a:ea typeface="Times New Roman" panose="02020603050405020304" pitchFamily="18" charset="0"/>
              </a:rPr>
              <a:t>Sunaina</a:t>
            </a:r>
            <a:r>
              <a:rPr lang="en-US" sz="2000" dirty="0">
                <a:effectLst/>
                <a:latin typeface="Times New Roman" panose="02020603050405020304" pitchFamily="18" charset="0"/>
                <a:ea typeface="Times New Roman" panose="02020603050405020304" pitchFamily="18" charset="0"/>
              </a:rPr>
              <a:t> Puri , Dr Srikanth Prabhu and Dr Komal Smriti(2021),” </a:t>
            </a:r>
            <a:r>
              <a:rPr lang="en-IN" sz="2000" dirty="0">
                <a:effectLst/>
                <a:latin typeface="Times New Roman" panose="02020603050405020304" pitchFamily="18" charset="0"/>
                <a:ea typeface="Times New Roman" panose="02020603050405020304" pitchFamily="18" charset="0"/>
              </a:rPr>
              <a:t>Anomaly detection in panoramic dental x-rays using a hybrid Deep Learning and Machine Learning approach”</a:t>
            </a:r>
          </a:p>
          <a:p>
            <a:pPr marL="0" indent="0" algn="just">
              <a:lnSpc>
                <a:spcPct val="150000"/>
              </a:lnSpc>
              <a:buNone/>
            </a:pPr>
            <a:r>
              <a:rPr lang="en-IN" sz="2000" dirty="0">
                <a:effectLst/>
                <a:latin typeface="Times New Roman" panose="02020603050405020304" pitchFamily="18" charset="0"/>
                <a:ea typeface="Times New Roman" panose="02020603050405020304" pitchFamily="18" charset="0"/>
              </a:rPr>
              <a:t>[7] </a:t>
            </a:r>
            <a:r>
              <a:rPr lang="en-US" sz="2000" dirty="0" err="1">
                <a:effectLst/>
                <a:latin typeface="Times New Roman" panose="02020603050405020304" pitchFamily="18" charset="0"/>
                <a:ea typeface="Times New Roman" panose="02020603050405020304" pitchFamily="18" charset="0"/>
              </a:rPr>
              <a:t>G.jaffino</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A.Banumathi</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j.prabin</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jose</a:t>
            </a:r>
            <a:r>
              <a:rPr lang="en-US" sz="2000" dirty="0">
                <a:effectLst/>
                <a:latin typeface="Times New Roman" panose="02020603050405020304" pitchFamily="18" charset="0"/>
                <a:ea typeface="Times New Roman" panose="02020603050405020304" pitchFamily="18" charset="0"/>
              </a:rPr>
              <a:t>(2021),” </a:t>
            </a:r>
            <a:r>
              <a:rPr lang="en-IN" sz="2000" dirty="0">
                <a:effectLst/>
                <a:latin typeface="Times New Roman" panose="02020603050405020304" pitchFamily="18" charset="0"/>
                <a:ea typeface="Times New Roman" panose="02020603050405020304" pitchFamily="18" charset="0"/>
              </a:rPr>
              <a:t>Dental work extraction for different radiographic Images in human Forensic Identification”</a:t>
            </a:r>
          </a:p>
          <a:p>
            <a:pPr marL="0" indent="0" algn="just">
              <a:lnSpc>
                <a:spcPct val="150000"/>
              </a:lnSpc>
              <a:buNone/>
            </a:pPr>
            <a:r>
              <a:rPr lang="en-IN" sz="2000" dirty="0">
                <a:effectLst/>
                <a:latin typeface="Times New Roman" panose="02020603050405020304" pitchFamily="18" charset="0"/>
                <a:ea typeface="Times New Roman" panose="02020603050405020304" pitchFamily="18" charset="0"/>
              </a:rPr>
              <a:t>[8] </a:t>
            </a:r>
            <a:r>
              <a:rPr lang="en-US" sz="2000" dirty="0">
                <a:effectLst/>
                <a:latin typeface="Times New Roman" panose="02020603050405020304" pitchFamily="18" charset="0"/>
                <a:ea typeface="Times New Roman" panose="02020603050405020304" pitchFamily="18" charset="0"/>
              </a:rPr>
              <a:t>Anil </a:t>
            </a:r>
            <a:r>
              <a:rPr lang="en-US" sz="2000" dirty="0" err="1">
                <a:effectLst/>
                <a:latin typeface="Times New Roman" panose="02020603050405020304" pitchFamily="18" charset="0"/>
                <a:ea typeface="Times New Roman" panose="02020603050405020304" pitchFamily="18" charset="0"/>
              </a:rPr>
              <a:t>Gurses</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Ayse</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betul</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oktay</a:t>
            </a:r>
            <a:r>
              <a:rPr lang="en-US" sz="2000" dirty="0">
                <a:effectLst/>
                <a:latin typeface="Times New Roman" panose="02020603050405020304" pitchFamily="18" charset="0"/>
                <a:ea typeface="Times New Roman" panose="02020603050405020304" pitchFamily="18" charset="0"/>
              </a:rPr>
              <a:t>(2021),” </a:t>
            </a:r>
            <a:r>
              <a:rPr lang="en-IN" sz="2000" dirty="0">
                <a:effectLst/>
                <a:latin typeface="Times New Roman" panose="02020603050405020304" pitchFamily="18" charset="0"/>
                <a:ea typeface="Times New Roman" panose="02020603050405020304" pitchFamily="18" charset="0"/>
              </a:rPr>
              <a:t>Tooth Restoration and Dental Work Detection on Panoramic Dental Images via CNN</a:t>
            </a:r>
            <a:r>
              <a:rPr lang="en-US" sz="2000" dirty="0">
                <a:effectLst/>
                <a:latin typeface="Times New Roman" panose="02020603050405020304" pitchFamily="18" charset="0"/>
                <a:ea typeface="Times New Roman" panose="02020603050405020304" pitchFamily="18" charset="0"/>
              </a:rPr>
              <a:t>”</a:t>
            </a:r>
            <a:endParaRPr lang="en-IN" sz="2000" dirty="0">
              <a:effectLst/>
              <a:latin typeface="Times New Roman" panose="02020603050405020304" pitchFamily="18" charset="0"/>
              <a:ea typeface="Times New Roman" panose="02020603050405020304" pitchFamily="18" charset="0"/>
            </a:endParaRPr>
          </a:p>
          <a:p>
            <a:pPr marL="0" indent="0" algn="just">
              <a:lnSpc>
                <a:spcPct val="150000"/>
              </a:lnSpc>
              <a:buNone/>
            </a:pPr>
            <a:r>
              <a:rPr lang="en-US" sz="2000" dirty="0">
                <a:effectLst/>
                <a:latin typeface="Times New Roman" panose="02020603050405020304" pitchFamily="18" charset="0"/>
                <a:ea typeface="Times New Roman" panose="02020603050405020304" pitchFamily="18" charset="0"/>
              </a:rPr>
              <a:t>[9] Danijela </a:t>
            </a:r>
            <a:r>
              <a:rPr lang="en-US" sz="2000" dirty="0" err="1">
                <a:effectLst/>
                <a:latin typeface="Times New Roman" panose="02020603050405020304" pitchFamily="18" charset="0"/>
                <a:ea typeface="Times New Roman" panose="02020603050405020304" pitchFamily="18" charset="0"/>
              </a:rPr>
              <a:t>Kalibovic</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Govorko</a:t>
            </a:r>
            <a:r>
              <a:rPr lang="en-US" sz="2000" dirty="0">
                <a:effectLst/>
                <a:latin typeface="Times New Roman" panose="02020603050405020304" pitchFamily="18" charset="0"/>
                <a:ea typeface="Times New Roman" panose="02020603050405020304" pitchFamily="18" charset="0"/>
              </a:rPr>
              <a:t>, Benjamin </a:t>
            </a:r>
            <a:r>
              <a:rPr lang="en-US" sz="2000" dirty="0" err="1">
                <a:effectLst/>
                <a:latin typeface="Times New Roman" panose="02020603050405020304" pitchFamily="18" charset="0"/>
                <a:ea typeface="Times New Roman" panose="02020603050405020304" pitchFamily="18" charset="0"/>
              </a:rPr>
              <a:t>Benzon</a:t>
            </a:r>
            <a:r>
              <a:rPr lang="en-US" sz="2000" dirty="0">
                <a:effectLst/>
                <a:latin typeface="Times New Roman" panose="02020603050405020304" pitchFamily="18" charset="0"/>
                <a:ea typeface="Times New Roman" panose="02020603050405020304" pitchFamily="18" charset="0"/>
              </a:rPr>
              <a:t>, Katarina(2021),” </a:t>
            </a:r>
            <a:r>
              <a:rPr lang="en-IN" sz="2000" dirty="0">
                <a:effectLst/>
                <a:latin typeface="Times New Roman" panose="02020603050405020304" pitchFamily="18" charset="0"/>
                <a:ea typeface="Times New Roman" panose="02020603050405020304" pitchFamily="18" charset="0"/>
              </a:rPr>
              <a:t>Conventional vs. Digital dental impression: practitioner’s and patient’s perspective-a pilot study”</a:t>
            </a:r>
          </a:p>
          <a:p>
            <a:pPr marL="0" indent="0" algn="just">
              <a:lnSpc>
                <a:spcPct val="150000"/>
              </a:lnSpc>
              <a:buNone/>
            </a:pPr>
            <a:r>
              <a:rPr lang="en-IN" sz="2000" dirty="0">
                <a:effectLst/>
                <a:latin typeface="Times New Roman" panose="02020603050405020304" pitchFamily="18" charset="0"/>
                <a:ea typeface="Times New Roman" panose="02020603050405020304" pitchFamily="18" charset="0"/>
              </a:rPr>
              <a:t>[10] </a:t>
            </a:r>
            <a:r>
              <a:rPr lang="en-US" sz="2000" dirty="0">
                <a:effectLst/>
                <a:latin typeface="Times New Roman" panose="02020603050405020304" pitchFamily="18" charset="0"/>
                <a:ea typeface="Times New Roman" panose="02020603050405020304" pitchFamily="18" charset="0"/>
              </a:rPr>
              <a:t>Tomoko </a:t>
            </a:r>
            <a:r>
              <a:rPr lang="en-US" sz="2000" dirty="0" err="1">
                <a:effectLst/>
                <a:latin typeface="Times New Roman" panose="02020603050405020304" pitchFamily="18" charset="0"/>
                <a:ea typeface="Times New Roman" panose="02020603050405020304" pitchFamily="18" charset="0"/>
              </a:rPr>
              <a:t>yui</a:t>
            </a:r>
            <a:r>
              <a:rPr lang="en-US" sz="2000" dirty="0">
                <a:effectLst/>
                <a:latin typeface="Times New Roman" panose="02020603050405020304" pitchFamily="18" charset="0"/>
                <a:ea typeface="Times New Roman" panose="02020603050405020304" pitchFamily="18" charset="0"/>
              </a:rPr>
              <a:t>, Tomoki </a:t>
            </a:r>
            <a:r>
              <a:rPr lang="en-US" sz="2000" dirty="0" err="1">
                <a:effectLst/>
                <a:latin typeface="Times New Roman" panose="02020603050405020304" pitchFamily="18" charset="0"/>
                <a:ea typeface="Times New Roman" panose="02020603050405020304" pitchFamily="18" charset="0"/>
              </a:rPr>
              <a:t>Ishikura</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SungGwi</a:t>
            </a:r>
            <a:r>
              <a:rPr lang="en-US" sz="2000" dirty="0">
                <a:effectLst/>
                <a:latin typeface="Times New Roman" panose="02020603050405020304" pitchFamily="18" charset="0"/>
                <a:ea typeface="Times New Roman" panose="02020603050405020304" pitchFamily="18" charset="0"/>
              </a:rPr>
              <a:t> Cho(2021),” </a:t>
            </a:r>
            <a:r>
              <a:rPr lang="en-IN" sz="2000" dirty="0">
                <a:effectLst/>
                <a:latin typeface="Times New Roman" panose="02020603050405020304" pitchFamily="18" charset="0"/>
                <a:ea typeface="Times New Roman" panose="02020603050405020304" pitchFamily="18" charset="0"/>
              </a:rPr>
              <a:t>: A Quantitative Measurement of Hand Scaling Motion for Dental Hygienist Training”</a:t>
            </a:r>
          </a:p>
        </p:txBody>
      </p:sp>
    </p:spTree>
    <p:extLst>
      <p:ext uri="{BB962C8B-B14F-4D97-AF65-F5344CB8AC3E}">
        <p14:creationId xmlns:p14="http://schemas.microsoft.com/office/powerpoint/2010/main" val="105498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536</TotalTime>
  <Words>2202</Words>
  <Application>Microsoft Office PowerPoint</Application>
  <PresentationFormat>Widescreen</PresentationFormat>
  <Paragraphs>122</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PowerPoint Presentation</vt:lpstr>
      <vt:lpstr>INTRODUCTION</vt:lpstr>
      <vt:lpstr>PROBLEM DEFINITION</vt:lpstr>
      <vt:lpstr>PowerPoint Presentation</vt:lpstr>
      <vt:lpstr>DEVELOPMENT ENVIRONMENT </vt:lpstr>
      <vt:lpstr>PowerPoint Presentation</vt:lpstr>
      <vt:lpstr>E-R DIAGRAM </vt:lpstr>
      <vt:lpstr>USE CASE:</vt:lpstr>
      <vt:lpstr>SEQUENCE DIAGRAM:</vt:lpstr>
      <vt:lpstr>ACTIVITY DIAGRAM:</vt:lpstr>
      <vt:lpstr> DFD DIAGRAM  </vt:lpstr>
      <vt:lpstr>1. DATA GENERATION USING BALANCING IMAGE  2. FORENSIC FREQUENCY PREDICTION BY CLAHE  3. FORENSIC FREQUENCY PREDICTION USING DENTAL IMAGE  4. LATENT PART LOCALIZATION  5. CONTRASTIVE LEARNING WITH DSA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147 KAVYA  V R</dc:creator>
  <cp:lastModifiedBy>nandhini subramanian</cp:lastModifiedBy>
  <cp:revision>21</cp:revision>
  <dcterms:created xsi:type="dcterms:W3CDTF">2022-05-22T09:44:24Z</dcterms:created>
  <dcterms:modified xsi:type="dcterms:W3CDTF">2022-05-24T17:42:06Z</dcterms:modified>
</cp:coreProperties>
</file>